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9f0eab-2581-3b3a-b050-d5714fa356db}">
          <p14:sldIdLst>
            <p14:sldId id="256"/>
            <p14:sldId id="257"/>
          </p14:sldIdLst>
        </p14:section>
        <p14:section name="Task and data" id="{969611f8-0946-f49c-cbc6-2ac7c1a9eec0}">
          <p14:sldIdLst>
            <p14:sldId id="258"/>
            <p14:sldId id="259"/>
          </p14:sldIdLst>
        </p14:section>
        <p14:section name="Where the gains came from" id="{525c6534-bcfe-5042-5d40-0a05773ba5c0}">
          <p14:sldIdLst>
            <p14:sldId id="260"/>
            <p14:sldId id="261"/>
            <p14:sldId id="262"/>
          </p14:sldIdLst>
        </p14:section>
        <p14:section name="Preference optimization" id="{9018817c-8975-b461-b1ba-b23c845119ae}">
          <p14:sldIdLst>
            <p14:sldId id="263"/>
            <p14:sldId id="264"/>
            <p14:sldId id="265"/>
          </p14:sldIdLst>
        </p14:section>
        <p14:section name="Engineering lessons" id="{e5781cf5-de4c-ef94-f2e6-301b0dc4c678}">
          <p14:sldIdLst>
            <p14:sldId id="266"/>
            <p14:sldId id="267"/>
          </p14:sldIdLst>
        </p14:section>
        <p14:section name="Closing" id="{0c5efd76-c194-d50d-e326-a9f82f6464fc}">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117"/>
                </a:solidFill>
                <a:latin typeface="Calibri"/>
              </a:defRPr>
            </a:pPr>
            <a:r>
              <a:rPr sz="1300" b="0" i="0" u="none" strike="noStrike">
                <a:solidFill>
                  <a:srgbClr val="0D1117"/>
                </a:solidFill>
                <a:latin typeface="Calibri"/>
              </a:rPr>
              <a:t>Training pairs per tier (70,139 in total, 38 directions)</a:t>
            </a:r>
          </a:p>
        </c:rich>
      </c:tx>
      <c:layout/>
      <c:overlay val="0"/>
    </c:title>
    <c:autoTitleDeleted val="0"/>
    <c:plotArea>
      <c:layout/>
      <c:barChart>
        <c:barDir val="bar"/>
        <c:grouping val="clustered"/>
        <c:varyColors val="0"/>
        <c:ser>
          <c:idx val="0"/>
          <c:order val="0"/>
          <c:tx>
            <c:strRef>
              <c:f>Sheet1!$B$1</c:f>
              <c:strCache>
                <c:ptCount val="1"/>
                <c:pt idx="0">
                  <c:v>Training pairs</c:v>
                </c:pt>
              </c:strCache>
            </c:strRef>
          </c:tx>
          <c:spPr>
            <a:solidFill>
              <a:srgbClr val="12203A"/>
            </a:solidFill>
            <a:effectLst/>
          </c:spPr>
          <c:invertIfNegative val="0"/>
          <c:dLbls>
            <c:numFmt formatCode="#,##0" sourceLinked="0"/>
            <c:txPr>
              <a:bodyPr/>
              <a:lstStyle/>
              <a:p>
                <a:pPr>
                  <a:defRPr b="1" i="0" strike="noStrike" sz="1400" u="none">
                    <a:solidFill>
                      <a:srgbClr val="0D1117"/>
                    </a:solidFill>
                    <a:latin typeface="Calibri"/>
                  </a:defRPr>
                </a:pPr>
              </a:p>
            </c:txPr>
            <c:showLegendKey val="0"/>
            <c:showVal val="1"/>
            <c:showCatName val="0"/>
            <c:showSerName val="0"/>
            <c:showPercent val="0"/>
            <c:showBubbleSize val="0"/>
            <c:showLeaderLines val="0"/>
          </c:dLbls>
          <c:dPt>
            <c:idx val="0"/>
            <c:invertIfNegative val="0"/>
            <c:bubble3D val="0"/>
            <c:spPr>
              <a:solidFill>
                <a:srgbClr val="12203A"/>
              </a:solidFill>
              <a:effectLst/>
            </c:spPr>
          </c:dPt>
          <c:dPt>
            <c:idx val="1"/>
            <c:invertIfNegative val="0"/>
            <c:bubble3D val="0"/>
            <c:spPr>
              <a:solidFill>
                <a:srgbClr val="1E6BFF"/>
              </a:solidFill>
              <a:effectLst/>
            </c:spPr>
          </c:dPt>
          <c:dPt>
            <c:idx val="2"/>
            <c:invertIfNegative val="0"/>
            <c:bubble3D val="0"/>
            <c:spPr>
              <a:solidFill>
                <a:srgbClr val="9DBDFF"/>
              </a:solidFill>
              <a:effectLst/>
            </c:spPr>
          </c:dPt>
          <c:cat>
            <c:multiLvlStrRef>
              <c:f>Sheet1!$A$2:$A$4</c:f>
              <c:multiLvlStrCache>
                <c:ptCount val="3"/>
                <c:lvl>
                  <c:pt idx="0">
                    <c:v>Gold (verified)</c:v>
                  </c:pt>
                  <c:pt idx="1">
                    <c:v>Silver (mined)</c:v>
                  </c:pt>
                  <c:pt idx="2">
                    <c:v>Bronze (synthetic)</c:v>
                  </c:pt>
                </c:lvl>
              </c:multiLvlStrCache>
            </c:multiLvlStrRef>
          </c:cat>
          <c:val>
            <c:numRef>
              <c:f>Sheet1!$B$2:$B$4</c:f>
              <c:numCache>
                <c:formatCode>General</c:formatCode>
                <c:ptCount val="3"/>
                <c:pt idx="0">
                  <c:v>16000</c:v>
                </c:pt>
                <c:pt idx="1">
                  <c:v>28668</c:v>
                </c:pt>
                <c:pt idx="2">
                  <c:v>25471</c:v>
                </c:pt>
              </c:numCache>
            </c:numRef>
          </c:val>
        </c:ser>
        <c:dLbls>
          <c:numFmt formatCode="#,##0" sourceLinked="0"/>
          <c:txPr>
            <a:bodyPr/>
            <a:lstStyle/>
            <a:p>
              <a:pPr>
                <a:defRPr b="1" i="0" strike="noStrike" sz="1400" u="none">
                  <a:solidFill>
                    <a:srgbClr val="0D1117"/>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D1117"/>
                </a:solidFill>
                <a:latin typeface="Calibri"/>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9525" cap="flat">
              <a:solidFill>
                <a:srgbClr val="E3E9F2"/>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8A93A0"/>
                </a:solidFill>
                <a:latin typeface="Calibri"/>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Submission phase</c:v>
                </c:pt>
              </c:strCache>
            </c:strRef>
          </c:tx>
          <c:spPr>
            <a:solidFill>
              <a:srgbClr val="1E6BFF"/>
            </a:solidFill>
            <a:ln w="31750" cap="flat">
              <a:solidFill>
                <a:srgbClr val="1E6BFF"/>
              </a:solidFill>
              <a:prstDash val="solid"/>
              <a:round/>
            </a:ln>
            <a:effectLst/>
          </c:spPr>
          <c:invertIfNegative val="0"/>
          <c:dLbls>
            <c:numFmt formatCode="0.00" sourceLinked="0"/>
            <c:txPr>
              <a:bodyPr/>
              <a:lstStyle/>
              <a:p>
                <a:pPr>
                  <a:defRPr b="1" i="0" strike="noStrike" sz="1200" u="none">
                    <a:solidFill>
                      <a:srgbClr val="0D1117"/>
                    </a:solidFill>
                    <a:latin typeface="Calibri"/>
                  </a:defRPr>
                </a:pPr>
              </a:p>
            </c:txPr>
            <c:dLblPos val="t"/>
            <c:showLegendKey val="0"/>
            <c:showVal val="1"/>
            <c:showCatName val="0"/>
            <c:showSerName val="0"/>
            <c:showPercent val="0"/>
            <c:showBubbleSize val="0"/>
            <c:showLeaderLines val="0"/>
          </c:dLbls>
          <c:marker>
            <c:symbol val="circle"/>
            <c:size val="9"/>
            <c:spPr>
              <a:solidFill>
                <a:srgbClr val="1E6BFF"/>
              </a:solidFill>
              <a:ln w="9525" cap="flat">
                <a:solidFill>
                  <a:srgbClr val="1E6BFF"/>
                </a:solidFill>
                <a:prstDash val="solid"/>
                <a:round/>
              </a:ln>
              <a:effectLst/>
            </c:spPr>
          </c:marker>
          <c:cat>
            <c:multiLvlStrRef>
              <c:f>Sheet1!$A$2:$A$9</c:f>
              <c:multiLvlStrCache>
                <c:ptCount val="8"/>
                <c:lvl>
                  <c:pt idx="0">
                    <c:v>Baseline LoRA r16</c:v>
                  </c:pt>
                  <c:pt idx="1">
                    <c:v>LoRA r64 + 8 ep.</c:v>
                  </c:pt>
                  <c:pt idx="2">
                    <c:v>Full FT (init.)</c:v>
                  </c:pt>
                  <c:pt idx="3">
                    <c:v>Full FT +2 ep.</c:v>
                  </c:pt>
                  <c:pt idx="4">
                    <c:v>Official (extended FT)</c:v>
                  </c:pt>
                  <c:pt idx="5">
                    <c:v>Ext. FT ep. 12</c:v>
                  </c:pt>
                  <c:pt idx="6">
                    <c:v>Ext. FT II ep. 22</c:v>
                  </c:pt>
                  <c:pt idx="7">
                    <c:v>DPO Config B</c:v>
                  </c:pt>
                </c:lvl>
              </c:multiLvlStrCache>
            </c:multiLvlStrRef>
          </c:cat>
          <c:val>
            <c:numRef>
              <c:f>Sheet1!$B$2:$B$9</c:f>
              <c:numCache>
                <c:formatCode>General</c:formatCode>
                <c:ptCount val="8"/>
                <c:pt idx="0">
                  <c:v>19.536</c:v>
                </c:pt>
                <c:pt idx="1">
                  <c:v>23.088</c:v>
                </c:pt>
                <c:pt idx="2">
                  <c:v>23.727</c:v>
                </c:pt>
                <c:pt idx="3">
                  <c:v>24.44</c:v>
                </c:pt>
                <c:pt idx="4">
                  <c:v>25.84</c:v>
                </c:pt>
              </c:numCache>
            </c:numRef>
          </c:val>
          <c:smooth val="0"/>
        </c:ser>
        <c:dLbls>
          <c:numFmt formatCode="0.00" sourceLinked="0"/>
          <c:txPr>
            <a:bodyPr/>
            <a:lstStyle/>
            <a:p>
              <a:pPr>
                <a:defRPr b="1" i="0" strike="noStrike" sz="1200" u="none">
                  <a:solidFill>
                    <a:srgbClr val="0D1117"/>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Post-evaluation (after the deadline)</c:v>
                </c:pt>
              </c:strCache>
            </c:strRef>
          </c:tx>
          <c:spPr>
            <a:solidFill>
              <a:srgbClr val="1553CC"/>
            </a:solidFill>
            <a:ln w="31750" cap="flat">
              <a:solidFill>
                <a:srgbClr val="1553CC"/>
              </a:solidFill>
              <a:prstDash val="dash"/>
              <a:round/>
            </a:ln>
            <a:effectLst/>
          </c:spPr>
          <c:invertIfNegative val="0"/>
          <c:dLbls>
            <c:numFmt formatCode="0.00" sourceLinked="0"/>
            <c:txPr>
              <a:bodyPr/>
              <a:lstStyle/>
              <a:p>
                <a:pPr>
                  <a:defRPr b="1" i="0" strike="noStrike" sz="1200" u="none">
                    <a:solidFill>
                      <a:srgbClr val="0D1117"/>
                    </a:solidFill>
                    <a:latin typeface="Calibri"/>
                  </a:defRPr>
                </a:pPr>
              </a:p>
            </c:txPr>
            <c:dLblPos val="t"/>
            <c:showLegendKey val="0"/>
            <c:showVal val="1"/>
            <c:showCatName val="0"/>
            <c:showSerName val="0"/>
            <c:showPercent val="0"/>
            <c:showBubbleSize val="0"/>
            <c:showLeaderLines val="0"/>
          </c:dLbls>
          <c:marker>
            <c:symbol val="diamond"/>
            <c:size val="9"/>
            <c:spPr>
              <a:solidFill>
                <a:srgbClr val="1553CC"/>
              </a:solidFill>
              <a:ln w="9525" cap="flat">
                <a:solidFill>
                  <a:srgbClr val="1553CC"/>
                </a:solidFill>
                <a:prstDash val="solid"/>
                <a:round/>
              </a:ln>
              <a:effectLst/>
            </c:spPr>
          </c:marker>
          <c:cat>
            <c:multiLvlStrRef>
              <c:f>Sheet1!$A$2:$A$9</c:f>
              <c:multiLvlStrCache>
                <c:ptCount val="8"/>
                <c:lvl>
                  <c:pt idx="0">
                    <c:v>Baseline LoRA r16</c:v>
                  </c:pt>
                  <c:pt idx="1">
                    <c:v>LoRA r64 + 8 ep.</c:v>
                  </c:pt>
                  <c:pt idx="2">
                    <c:v>Full FT (init.)</c:v>
                  </c:pt>
                  <c:pt idx="3">
                    <c:v>Full FT +2 ep.</c:v>
                  </c:pt>
                  <c:pt idx="4">
                    <c:v>Official (extended FT)</c:v>
                  </c:pt>
                  <c:pt idx="5">
                    <c:v>Ext. FT ep. 12</c:v>
                  </c:pt>
                  <c:pt idx="6">
                    <c:v>Ext. FT II ep. 22</c:v>
                  </c:pt>
                  <c:pt idx="7">
                    <c:v>DPO Config B</c:v>
                  </c:pt>
                </c:lvl>
              </c:multiLvlStrCache>
            </c:multiLvlStrRef>
          </c:cat>
          <c:val>
            <c:numRef>
              <c:f>Sheet1!$C$2:$C$9</c:f>
              <c:numCache>
                <c:formatCode>General</c:formatCode>
                <c:ptCount val="8"/>
                <c:pt idx="4">
                  <c:v>25.84</c:v>
                </c:pt>
                <c:pt idx="5">
                  <c:v>26.565</c:v>
                </c:pt>
                <c:pt idx="6">
                  <c:v>27.894</c:v>
                </c:pt>
                <c:pt idx="7">
                  <c:v>28.042</c:v>
                </c:pt>
              </c:numCache>
            </c:numRef>
          </c:val>
          <c:smooth val="0"/>
        </c:ser>
        <c:dLbls>
          <c:numFmt formatCode="0.00" sourceLinked="0"/>
          <c:txPr>
            <a:bodyPr/>
            <a:lstStyle/>
            <a:p>
              <a:pPr>
                <a:defRPr b="1" i="0" strike="noStrike" sz="1200" u="none">
                  <a:solidFill>
                    <a:srgbClr val="0D1117"/>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1st place on the official leaderboard (28.401)</c:v>
                </c:pt>
              </c:strCache>
            </c:strRef>
          </c:tx>
          <c:spPr>
            <a:solidFill>
              <a:srgbClr val="E8A020"/>
            </a:solidFill>
            <a:ln w="31750" cap="flat">
              <a:solidFill>
                <a:srgbClr val="E8A020"/>
              </a:solidFill>
              <a:prstDash val="dash"/>
              <a:round/>
            </a:ln>
            <a:effectLst/>
          </c:spPr>
          <c:invertIfNegative val="0"/>
          <c:dLbls>
            <c:numFmt formatCode="0.00" sourceLinked="0"/>
            <c:txPr>
              <a:bodyPr/>
              <a:lstStyle/>
              <a:p>
                <a:pPr>
                  <a:defRPr b="1" i="0" strike="noStrike" sz="1200" u="none">
                    <a:solidFill>
                      <a:srgbClr val="0D1117"/>
                    </a:solidFill>
                    <a:latin typeface="Calibri"/>
                  </a:defRPr>
                </a:pPr>
              </a:p>
            </c:txPr>
            <c:dLblPos val="t"/>
            <c:showLegendKey val="0"/>
            <c:showVal val="0"/>
            <c:showCatName val="0"/>
            <c:showSerName val="0"/>
            <c:showPercent val="0"/>
            <c:showBubbleSize val="0"/>
            <c:showLeaderLines val="0"/>
          </c:dLbls>
          <c:marker>
            <c:symbol val="none"/>
            <c:size val="9"/>
            <c:spPr>
              <a:solidFill>
                <a:srgbClr val="E8A020"/>
              </a:solidFill>
              <a:ln w="9525" cap="flat">
                <a:solidFill>
                  <a:srgbClr val="E8A020"/>
                </a:solidFill>
                <a:prstDash val="solid"/>
                <a:round/>
              </a:ln>
              <a:effectLst/>
            </c:spPr>
          </c:marker>
          <c:cat>
            <c:multiLvlStrRef>
              <c:f>Sheet1!$A$2:$A$9</c:f>
              <c:multiLvlStrCache>
                <c:ptCount val="8"/>
                <c:lvl>
                  <c:pt idx="0">
                    <c:v>Baseline LoRA r16</c:v>
                  </c:pt>
                  <c:pt idx="1">
                    <c:v>LoRA r64 + 8 ep.</c:v>
                  </c:pt>
                  <c:pt idx="2">
                    <c:v>Full FT (init.)</c:v>
                  </c:pt>
                  <c:pt idx="3">
                    <c:v>Full FT +2 ep.</c:v>
                  </c:pt>
                  <c:pt idx="4">
                    <c:v>Official (extended FT)</c:v>
                  </c:pt>
                  <c:pt idx="5">
                    <c:v>Ext. FT ep. 12</c:v>
                  </c:pt>
                  <c:pt idx="6">
                    <c:v>Ext. FT II ep. 22</c:v>
                  </c:pt>
                  <c:pt idx="7">
                    <c:v>DPO Config B</c:v>
                  </c:pt>
                </c:lvl>
              </c:multiLvlStrCache>
            </c:multiLvlStrRef>
          </c:cat>
          <c:val>
            <c:numRef>
              <c:f>Sheet1!$D$2:$D$9</c:f>
              <c:numCache>
                <c:formatCode>General</c:formatCode>
                <c:ptCount val="8"/>
                <c:pt idx="0">
                  <c:v>28.401</c:v>
                </c:pt>
                <c:pt idx="1">
                  <c:v>28.401</c:v>
                </c:pt>
                <c:pt idx="2">
                  <c:v>28.401</c:v>
                </c:pt>
                <c:pt idx="3">
                  <c:v>28.401</c:v>
                </c:pt>
                <c:pt idx="4">
                  <c:v>28.401</c:v>
                </c:pt>
                <c:pt idx="5">
                  <c:v>28.401</c:v>
                </c:pt>
                <c:pt idx="6">
                  <c:v>28.401</c:v>
                </c:pt>
                <c:pt idx="7">
                  <c:v>28.401</c:v>
                </c:pt>
              </c:numCache>
            </c:numRef>
          </c:val>
          <c:smooth val="0"/>
        </c:ser>
        <c:dLbls>
          <c:numFmt formatCode="0.00" sourceLinked="0"/>
          <c:txPr>
            <a:bodyPr/>
            <a:lstStyle/>
            <a:p>
              <a:pPr>
                <a:defRPr b="1" i="0" strike="noStrike" sz="1200" u="none">
                  <a:solidFill>
                    <a:srgbClr val="0D1117"/>
                  </a:solidFill>
                  <a:latin typeface="Calibri"/>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D1117"/>
                </a:solidFill>
                <a:latin typeface="Calibri"/>
              </a:defRPr>
            </a:pPr>
            <a:endParaRPr lang="en-US"/>
          </a:p>
        </c:txPr>
        <c:crossAx val="2094734552"/>
        <c:crosses val="autoZero"/>
        <c:auto val="1"/>
        <c:lblAlgn val="ctr"/>
        <c:noMultiLvlLbl val="1"/>
      </c:catAx>
      <c:valAx>
        <c:axId val="2094734552"/>
        <c:scaling>
          <c:orientation val="minMax"/>
          <c:max val="30"/>
          <c:min val="18"/>
        </c:scaling>
        <c:delete val="0"/>
        <c:axPos val="l"/>
        <c:majorGridlines>
          <c:spPr>
            <a:ln w="9525" cap="flat">
              <a:solidFill>
                <a:srgbClr val="E3E9F2"/>
              </a:solidFill>
              <a:prstDash val="solid"/>
              <a:round/>
            </a:ln>
          </c:spPr>
        </c:majorGridlines>
        <c:title>
          <c:tx>
            <c:rich>
              <a:bodyPr/>
              <a:lstStyle/>
              <a:p>
                <a:pPr>
                  <a:defRPr sz="1100" b="0" i="0" u="none" strike="noStrike">
                    <a:solidFill>
                      <a:srgbClr val="5A6472"/>
                    </a:solidFill>
                    <a:latin typeface="Arial"/>
                  </a:defRPr>
                </a:pPr>
                <a:r>
                  <a:rPr sz="1100" b="0" i="0" u="none" strike="noStrike">
                    <a:solidFill>
                      <a:srgbClr val="5A6472"/>
                    </a:solidFill>
                    <a:latin typeface="Arial"/>
                  </a:rPr>
                  <a:t>spBLEU (official test)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3A0"/>
                </a:solidFill>
                <a:latin typeface="Calibri"/>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5A647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I'm Momen Ibrahim from the Faculty of Engineering at Alexandria University. This is joint work with Mariam Hassib, Ahmed Salem and Marwan Torki. I'm presenting Team ALEXIS's system for Subtask 2 of the AlexandriaX 2026 shared task: cross-dialect Arabic machine translation.
Our paper is titled: Capacity Discovery and Calibrated Preference Optimization for Cross-Dialect Arabic MT. We placed second of four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official submission scored 25.84 spBLEU. After the deadline, in post-evaluation, our best system reached 28.04, just 0.36 below first place.
Two more numbers summarize the story: a single rank-and-epoch step gave plus 8.9 percent, and we trained on about seventy thousand pairs from three trust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translation between Modern Standard Arabic and six dialects, on short banking-support sentences, with a blind test set of 3,574 rows scored by spBLEU and chrF++. The real obstacle is uneven data scarcity. Egyptian and Lebanese have no parallel text at all, and by our estimate they make up about thirty-nine percent of the test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a three-tier corpus from ArBanking77. Gold is sixteen thousand real MSA-Palestinian pairs, the only verified tier. Silver is about twenty-eight thousand seven hundred pairs mined by embedding similarity: same topic, but not verified translations. Bronze is about twenty-five thousand five hundred synthetic Egyptian and Lebanese pairs, back-translated through the model itself. Every experiment uses NLLB-200 distilled 600M.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the four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whole project on the real leaderboard. We scored every configuration on Codabench instead of trusting offline proxies. You can see the four phases, the official result at 25.84, and the post-evaluation runs climbing to 28.04, close to the first-place line at 28.40.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began when the previous one stopped paying off. In phase one we tuned the data recipe with LoRA, but every round helped less: 3.8, then 2.7, then 1.8 percent. In phase two we held the data fixed and raised the LoRA rank and the epoch budget together. That gained 8.9 percent, more than the three data rounds combined. We changed both at once, so this shows that the data recipe had plateaued, not that capacity alone was the cause.
Phase three moved to full fine-tuning. In phase four we found that validation loss was still falling when the planned budgets ran out, and training past them was consistently our largest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preference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applied Direct Preference Optimization, and the reward design made all the difference. Configuration A used one uniform reward for all dialects and trusted the self-distilled bronze data. It fell to 25.02. Configuration B drew a trust boundary: no bronze references where real data exists, and a reference-free reward for Egyptian and Lebanese. That gave our best result, 28.04. Configuration C repeated B on its own output and regressed offline, so we did not submit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methodological point: preference accuracy climbed smoothly for all three configurations. Training dynamics alone could not separate the good configuration from the bad ones, so reward auditing is not optional. And continuing plain fine-tuning after B scored 27.51, so the two objectives did not simply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want to share bugs that raise no error. The NLLB fast tokenizer drops the source-language token, so we build the input sequence by hand. A peft merge left the weights frozen, so our first full fine-tuning run trained nothing at all. And bf16 DPO updates at a low learning rate can silently do nothing, so we trained DPO in fp32.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report clean negative results. MSA-pivot decoding, MBR and consensus reranking, checkpoint averaging, model soups and exact-match retrieval gave no reliable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the key milestones from our twenty-four real submissions.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lessons generalize. When a data recipe's returns slow down, test model capacity as an independent lever before assuming more data tuning is the answer. And preference optimization for MT is only as good as the trust boundary drawn around its reward's reference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on the ACL Anthology and our code is on GitHub. You can reach both through these QR codes.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LIGHT-image-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DARK-image-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CLOSING-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image" Target="../media/DIVIDER-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png">    </p:cNvPr>
          <p:cNvPicPr>
            <a:picLocks noChangeAspect="1"/>
          </p:cNvPicPr>
          <p:nvPr/>
        </p:nvPicPr>
        <p:blipFill>
          <a:blip r:embed="rId2"/>
          <a:stretch>
            <a:fillRect/>
          </a:stretch>
        </p:blipFill>
        <p:spPr>
          <a:xfrm>
            <a:off x="457200" y="457200"/>
            <a:ext cx="256032" cy="256032"/>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AlexandriaX-2026 Subtask 2  ·  ArabicNLP 2026</a:t>
            </a:r>
            <a:endParaRPr lang="en-US" sz="900" dirty="0"/>
          </a:p>
        </p:txBody>
      </p:sp>
      <p:sp>
        <p:nvSpPr>
          <p:cNvPr id="5" name="Text 1"/>
          <p:cNvSpPr/>
          <p:nvPr>
            <p:ph idx="103" type="body" hasCustomPrompt="1"/>
          </p:nvPr>
        </p:nvSpPr>
        <p:spPr>
          <a:xfrm>
            <a:off x="786384" y="457200"/>
            <a:ext cx="8229600" cy="256032"/>
          </a:xfrm>
          <a:prstGeom prst="rect">
            <a:avLst/>
          </a:prstGeom>
          <a:noFill/>
          <a:ln/>
        </p:spPr>
        <p:txBody>
          <a:bodyPr wrap="square" rtlCol="0"/>
          <a:lstStyle>
            <a:lvl1pPr algn="l" indent="0" marL="0">
              <a:buNone/>
              <a:defRPr lang="en-US" sz="1100" b="1" spc="100" kern="0" dirty="0">
                <a:solidFill>
                  <a:srgbClr val="1E6BFF"/>
                </a:solidFill>
                <a:latin typeface="Arial" pitchFamily="34" charset="0"/>
                <a:ea typeface="Arial" pitchFamily="34" charset="-122"/>
                <a:cs typeface="Arial" pitchFamily="34" charset="-120"/>
              </a:defRPr>
            </a:lvl1pPr>
          </a:lstStyle>
          <a:p>
            <a:pPr algn="l" indent="0" marL="0">
              <a:buNone/>
            </a:pPr>
            <a:endParaRPr lang="en-US" sz="1100" dirty="0"/>
          </a:p>
        </p:txBody>
      </p:sp>
      <p:sp>
        <p:nvSpPr>
          <p:cNvPr id="6" name="Text 1"/>
          <p:cNvSpPr/>
          <p:nvPr>
            <p:ph idx="104" type="title" hasCustomPrompt="1"/>
          </p:nvPr>
        </p:nvSpPr>
        <p:spPr>
          <a:xfrm>
            <a:off x="457200" y="768096"/>
            <a:ext cx="11247120" cy="566928"/>
          </a:xfrm>
          <a:prstGeom prst="rect">
            <a:avLst/>
          </a:prstGeom>
          <a:noFill/>
          <a:ln/>
        </p:spPr>
        <p:txBody>
          <a:bodyPr wrap="square" rtlCol="0"/>
          <a:lstStyle>
            <a:lvl1pPr algn="l" indent="0" marL="0">
              <a:buNone/>
              <a:defRPr lang="en-US" sz="2800" b="1" dirty="0">
                <a:solidFill>
                  <a:srgbClr val="0D1117"/>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png">    </p:cNvPr>
          <p:cNvPicPr>
            <a:picLocks noChangeAspect="1"/>
          </p:cNvPicPr>
          <p:nvPr/>
        </p:nvPicPr>
        <p:blipFill>
          <a:blip r:embed="rId2"/>
          <a:stretch>
            <a:fillRect/>
          </a:stretch>
        </p:blipFill>
        <p:spPr>
          <a:xfrm>
            <a:off x="457200" y="548640"/>
            <a:ext cx="274320" cy="274320"/>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AlexandriaX-2026 Subtask 2  ·  ArabicNLP 2026</a:t>
            </a:r>
            <a:endParaRPr lang="en-US" sz="900" dirty="0"/>
          </a:p>
        </p:txBody>
      </p:sp>
      <p:sp>
        <p:nvSpPr>
          <p:cNvPr id="5" name="Text 1"/>
          <p:cNvSpPr/>
          <p:nvPr>
            <p:ph idx="103" type="body" hasCustomPrompt="1"/>
          </p:nvPr>
        </p:nvSpPr>
        <p:spPr>
          <a:xfrm>
            <a:off x="822960" y="548640"/>
            <a:ext cx="8229600" cy="274320"/>
          </a:xfrm>
          <a:prstGeom prst="rect">
            <a:avLst/>
          </a:prstGeom>
          <a:noFill/>
          <a:ln/>
        </p:spPr>
        <p:txBody>
          <a:bodyPr wrap="square" rtlCol="0"/>
          <a:lstStyle>
            <a:lvl1pPr algn="l" indent="0" marL="0">
              <a:buNone/>
              <a:defRPr lang="en-US" sz="1200" b="1" spc="100" kern="0" dirty="0">
                <a:solidFill>
                  <a:srgbClr val="22C3FF"/>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6" name="Text 1"/>
          <p:cNvSpPr/>
          <p:nvPr>
            <p:ph idx="104" type="title" hasCustomPrompt="1"/>
          </p:nvPr>
        </p:nvSpPr>
        <p:spPr>
          <a:xfrm>
            <a:off x="457200" y="1097280"/>
            <a:ext cx="11247120" cy="1188720"/>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2C3FF"/>
                </a:solidFill>
                <a:latin typeface="Arial"/>
                <a:ea typeface="Arial"/>
                <a:cs typeface="Aria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sp>
        <p:nvSpPr>
          <p:cNvPr id="3"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AlexandriaX-2026 Subtask 2  ·  ArabicNLP 2026</a:t>
            </a:r>
            <a:endParaRPr lang="en-US" sz="9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_big.png">    </p:cNvPr>
          <p:cNvPicPr>
            <a:picLocks noChangeAspect="1"/>
          </p:cNvPicPr>
          <p:nvPr/>
        </p:nvPicPr>
        <p:blipFill>
          <a:blip r:embed="rId2"/>
          <a:stretch>
            <a:fillRect/>
          </a:stretch>
        </p:blipFill>
        <p:spPr>
          <a:xfrm>
            <a:off x="3977640" y="2788920"/>
            <a:ext cx="640080" cy="640080"/>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AlexandriaX-2026 Subtask 2  ·  ArabicNLP 2026</a:t>
            </a:r>
            <a:endParaRPr lang="en-US" sz="900" dirty="0"/>
          </a:p>
        </p:txBody>
      </p:sp>
      <p:sp>
        <p:nvSpPr>
          <p:cNvPr id="5" name="Text 1"/>
          <p:cNvSpPr/>
          <p:nvPr>
            <p:ph idx="103" type="body" hasCustomPrompt="1"/>
          </p:nvPr>
        </p:nvSpPr>
        <p:spPr>
          <a:xfrm>
            <a:off x="822960" y="2011680"/>
            <a:ext cx="2926080" cy="1828800"/>
          </a:xfrm>
          <a:prstGeom prst="rect">
            <a:avLst/>
          </a:prstGeom>
          <a:noFill/>
          <a:ln/>
        </p:spPr>
        <p:txBody>
          <a:bodyPr wrap="square" rtlCol="0"/>
          <a:lstStyle>
            <a:lvl1pPr algn="l" indent="0" marL="0">
              <a:buNone/>
              <a:defRPr lang="en-US" sz="12000" b="1" dirty="0">
                <a:solidFill>
                  <a:srgbClr val="1E6BFF"/>
                </a:solidFill>
                <a:latin typeface="Arial" pitchFamily="34" charset="0"/>
                <a:ea typeface="Arial" pitchFamily="34" charset="-122"/>
                <a:cs typeface="Arial" pitchFamily="34" charset="-120"/>
              </a:defRPr>
            </a:lvl1pPr>
          </a:lstStyle>
          <a:p>
            <a:pPr algn="l" indent="0" marL="0">
              <a:buNone/>
            </a:pPr>
            <a:endParaRPr lang="en-US" sz="12000" dirty="0"/>
          </a:p>
        </p:txBody>
      </p:sp>
      <p:sp>
        <p:nvSpPr>
          <p:cNvPr id="6" name="Text 1"/>
          <p:cNvSpPr/>
          <p:nvPr>
            <p:ph idx="104" type="title" hasCustomPrompt="1"/>
          </p:nvPr>
        </p:nvSpPr>
        <p:spPr>
          <a:xfrm>
            <a:off x="4754880" y="2468880"/>
            <a:ext cx="6949440" cy="82296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7" name="Text 1"/>
          <p:cNvSpPr/>
          <p:nvPr>
            <p:ph idx="105" type="body" hasCustomPrompt="1"/>
          </p:nvPr>
        </p:nvSpPr>
        <p:spPr>
          <a:xfrm>
            <a:off x="4773168" y="3310128"/>
            <a:ext cx="6858000" cy="548640"/>
          </a:xfrm>
          <a:prstGeom prst="rect">
            <a:avLst/>
          </a:prstGeom>
          <a:noFill/>
          <a:ln/>
        </p:spPr>
        <p:txBody>
          <a:bodyPr wrap="square" rtlCol="0"/>
          <a:lstStyle>
            <a:lvl1pPr algn="l" indent="0" marL="0">
              <a:buNone/>
              <a:defRPr lang="en-US" sz="1600" dirty="0">
                <a:solidFill>
                  <a:srgbClr val="9FB3D0"/>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3-4.png"/><Relationship Id="rId6" Type="http://schemas.openxmlformats.org/officeDocument/2006/relationships/image" Target="../media/image-3-4.png"/><Relationship Id="rId7" Type="http://schemas.openxmlformats.org/officeDocument/2006/relationships/image" Target="../media/image-3-4.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5.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0352" y="457200"/>
            <a:ext cx="3246120"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3" name="Image 0" descr="/home/aigca/ALEXIS/Posters/build/pptx/media/logo_emnlp.png">    </p:cNvPr>
          <p:cNvPicPr>
            <a:picLocks noChangeAspect="1"/>
          </p:cNvPicPr>
          <p:nvPr/>
        </p:nvPicPr>
        <p:blipFill>
          <a:blip r:embed="rId1"/>
          <a:stretch>
            <a:fillRect/>
          </a:stretch>
        </p:blipFill>
        <p:spPr>
          <a:xfrm>
            <a:off x="713232" y="708660"/>
            <a:ext cx="2103120" cy="366348"/>
          </a:xfrm>
          <a:prstGeom prst="rect">
            <a:avLst/>
          </a:prstGeom>
        </p:spPr>
      </p:pic>
      <p:pic>
        <p:nvPicPr>
          <p:cNvPr id="4" name="Image 1" descr="/home/aigca/ALEXIS/Posters/build/pptx/media/logo_sigarab.png">    </p:cNvPr>
          <p:cNvPicPr>
            <a:picLocks noChangeAspect="1"/>
          </p:cNvPicPr>
          <p:nvPr/>
        </p:nvPicPr>
        <p:blipFill>
          <a:blip r:embed="rId2"/>
          <a:stretch>
            <a:fillRect/>
          </a:stretch>
        </p:blipFill>
        <p:spPr>
          <a:xfrm>
            <a:off x="2971800" y="548640"/>
            <a:ext cx="685800" cy="685800"/>
          </a:xfrm>
          <a:prstGeom prst="rect">
            <a:avLst/>
          </a:prstGeom>
        </p:spPr>
      </p:pic>
      <p:pic>
        <p:nvPicPr>
          <p:cNvPr id="5" name="Image 2" descr="/home/aigca/ALEXIS/Posters/build/pptx/media/au_emblem.png">    </p:cNvPr>
          <p:cNvPicPr>
            <a:picLocks noChangeAspect="1"/>
          </p:cNvPicPr>
          <p:nvPr/>
        </p:nvPicPr>
        <p:blipFill>
          <a:blip r:embed="rId3"/>
          <a:stretch>
            <a:fillRect/>
          </a:stretch>
        </p:blipFill>
        <p:spPr>
          <a:xfrm>
            <a:off x="10241280" y="292608"/>
            <a:ext cx="1371600" cy="1371600"/>
          </a:xfrm>
          <a:prstGeom prst="rect">
            <a:avLst/>
          </a:prstGeom>
        </p:spPr>
      </p:pic>
      <p:sp>
        <p:nvSpPr>
          <p:cNvPr id="6" name="Text 1"/>
          <p:cNvSpPr txBox="1"/>
          <p:nvPr/>
        </p:nvSpPr>
        <p:spPr>
          <a:xfrm>
            <a:off x="1828800" y="1417320"/>
            <a:ext cx="8531352" cy="274320"/>
          </a:xfrm>
          <a:prstGeom prst="rect">
            <a:avLst/>
          </a:prstGeom>
          <a:noFill/>
          <a:ln/>
        </p:spPr>
        <p:txBody>
          <a:bodyPr wrap="square" lIns="0" tIns="0" rIns="0" bIns="0" rtlCol="0" anchor="t"/>
          <a:lstStyle/>
          <a:p>
            <a:pPr algn="ctr" indent="0" marL="0">
              <a:buNone/>
            </a:pPr>
            <a:r>
              <a:rPr lang="en-US" sz="1100" spc="100" kern="0" dirty="0">
                <a:solidFill>
                  <a:srgbClr val="9FB3D0"/>
                </a:solidFill>
                <a:latin typeface="Calibri" pitchFamily="34" charset="0"/>
                <a:ea typeface="Calibri" pitchFamily="34" charset="-122"/>
                <a:cs typeface="Calibri" pitchFamily="34" charset="-120"/>
              </a:rPr>
              <a:t>W13  ·  THE FOURTH ARABIC NLP CONFERENCE (ArabicNLP 2026)  ·  EMNLP 2026  ·  BUDAPEST</a:t>
            </a:r>
            <a:endParaRPr lang="en-US" sz="1100" dirty="0"/>
          </a:p>
        </p:txBody>
      </p:sp>
      <p:sp>
        <p:nvSpPr>
          <p:cNvPr id="7" name="Text 2"/>
          <p:cNvSpPr txBox="1"/>
          <p:nvPr/>
        </p:nvSpPr>
        <p:spPr>
          <a:xfrm>
            <a:off x="0" y="1920240"/>
            <a:ext cx="12191695" cy="320040"/>
          </a:xfrm>
          <a:prstGeom prst="rect">
            <a:avLst/>
          </a:prstGeom>
          <a:noFill/>
          <a:ln/>
        </p:spPr>
        <p:txBody>
          <a:bodyPr wrap="square" lIns="0" tIns="0" rIns="0" bIns="0" rtlCol="0" anchor="t"/>
          <a:lstStyle/>
          <a:p>
            <a:pPr algn="ctr" indent="0" marL="0">
              <a:buNone/>
            </a:pPr>
            <a:r>
              <a:rPr lang="en-US" sz="1300" b="1" spc="100" kern="0" dirty="0">
                <a:solidFill>
                  <a:srgbClr val="22C3FF"/>
                </a:solidFill>
                <a:latin typeface="Arial" pitchFamily="34" charset="0"/>
                <a:ea typeface="Arial" pitchFamily="34" charset="-122"/>
                <a:cs typeface="Arial" pitchFamily="34" charset="-120"/>
              </a:rPr>
              <a:t>CROSS-DIALECT ARABIC MACHINE TRANSLATION  ·  ALEXANDRIAX-2026 SUBTASK 2</a:t>
            </a:r>
            <a:endParaRPr lang="en-US" sz="1300" dirty="0"/>
          </a:p>
        </p:txBody>
      </p:sp>
      <p:sp>
        <p:nvSpPr>
          <p:cNvPr id="8" name="Text 3"/>
          <p:cNvSpPr txBox="1"/>
          <p:nvPr/>
        </p:nvSpPr>
        <p:spPr>
          <a:xfrm>
            <a:off x="548640" y="2286000"/>
            <a:ext cx="11094415" cy="68580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Arial" pitchFamily="34" charset="0"/>
                <a:ea typeface="Arial" pitchFamily="34" charset="-122"/>
                <a:cs typeface="Arial" pitchFamily="34" charset="-120"/>
              </a:rPr>
              <a:t>Capacity Discovery and Calibrated Preference Optimization</a:t>
            </a:r>
            <a:endParaRPr lang="en-US" sz="3400" dirty="0"/>
          </a:p>
        </p:txBody>
      </p:sp>
      <p:sp>
        <p:nvSpPr>
          <p:cNvPr id="9" name="Text 4"/>
          <p:cNvSpPr txBox="1"/>
          <p:nvPr/>
        </p:nvSpPr>
        <p:spPr>
          <a:xfrm>
            <a:off x="548640" y="2971800"/>
            <a:ext cx="11094415" cy="548640"/>
          </a:xfrm>
          <a:prstGeom prst="rect">
            <a:avLst/>
          </a:prstGeom>
          <a:noFill/>
          <a:ln/>
        </p:spPr>
        <p:txBody>
          <a:bodyPr wrap="square" lIns="0" tIns="0" rIns="0" bIns="0" rtlCol="0" anchor="ctr"/>
          <a:lstStyle/>
          <a:p>
            <a:pPr algn="ctr" indent="0" marL="0">
              <a:buNone/>
            </a:pPr>
            <a:r>
              <a:rPr lang="en-US" sz="2600" b="1" dirty="0">
                <a:solidFill>
                  <a:srgbClr val="22C3FF"/>
                </a:solidFill>
                <a:latin typeface="Arial" pitchFamily="34" charset="0"/>
                <a:ea typeface="Arial" pitchFamily="34" charset="-122"/>
                <a:cs typeface="Arial" pitchFamily="34" charset="-120"/>
              </a:rPr>
              <a:t>for Cross-Dialect Arabic MT</a:t>
            </a:r>
            <a:endParaRPr lang="en-US" sz="2600" dirty="0"/>
          </a:p>
        </p:txBody>
      </p:sp>
      <p:sp>
        <p:nvSpPr>
          <p:cNvPr id="10" name="Shape 5"/>
          <p:cNvSpPr/>
          <p:nvPr/>
        </p:nvSpPr>
        <p:spPr>
          <a:xfrm>
            <a:off x="4160520" y="3767328"/>
            <a:ext cx="713232" cy="804672"/>
          </a:xfrm>
          <a:prstGeom prst="roundRect">
            <a:avLst>
              <a:gd name="adj" fmla="val 12821"/>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11" name="Image 3" descr="/home/aigca/ALEXIS/Posters/build/pptx/media/logo_alexis.png">    </p:cNvPr>
          <p:cNvPicPr>
            <a:picLocks noChangeAspect="1"/>
          </p:cNvPicPr>
          <p:nvPr/>
        </p:nvPicPr>
        <p:blipFill>
          <a:blip r:embed="rId4"/>
          <a:stretch>
            <a:fillRect/>
          </a:stretch>
        </p:blipFill>
        <p:spPr>
          <a:xfrm>
            <a:off x="4233672" y="3813048"/>
            <a:ext cx="566928" cy="697758"/>
          </a:xfrm>
          <a:prstGeom prst="rect">
            <a:avLst/>
          </a:prstGeom>
        </p:spPr>
      </p:pic>
      <p:pic>
        <p:nvPicPr>
          <p:cNvPr id="12" name="Image 4" descr="/home/aigca/ALEXIS/Posters/build/pptx/media/logo_aimoment_white.png">    </p:cNvPr>
          <p:cNvPicPr>
            <a:picLocks noChangeAspect="1"/>
          </p:cNvPicPr>
          <p:nvPr/>
        </p:nvPicPr>
        <p:blipFill>
          <a:blip r:embed="rId5"/>
          <a:stretch>
            <a:fillRect/>
          </a:stretch>
        </p:blipFill>
        <p:spPr>
          <a:xfrm>
            <a:off x="5074920" y="4005072"/>
            <a:ext cx="2926080" cy="371612"/>
          </a:xfrm>
          <a:prstGeom prst="rect">
            <a:avLst/>
          </a:prstGeom>
        </p:spPr>
      </p:pic>
      <p:sp>
        <p:nvSpPr>
          <p:cNvPr id="13" name="Text 6"/>
          <p:cNvSpPr txBox="1"/>
          <p:nvPr/>
        </p:nvSpPr>
        <p:spPr>
          <a:xfrm>
            <a:off x="0" y="4754880"/>
            <a:ext cx="12191695" cy="32004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Momen Ibrahim  ·  Mariam E. Hassib  ·  Ahmed Salem  ·  Marwan Torki</a:t>
            </a:r>
            <a:endParaRPr lang="en-US" sz="1500" dirty="0"/>
          </a:p>
        </p:txBody>
      </p:sp>
      <p:sp>
        <p:nvSpPr>
          <p:cNvPr id="14" name="Text 7"/>
          <p:cNvSpPr txBox="1"/>
          <p:nvPr/>
        </p:nvSpPr>
        <p:spPr>
          <a:xfrm>
            <a:off x="0" y="5138928"/>
            <a:ext cx="12191695" cy="292608"/>
          </a:xfrm>
          <a:prstGeom prst="rect">
            <a:avLst/>
          </a:prstGeom>
          <a:noFill/>
          <a:ln/>
        </p:spPr>
        <p:txBody>
          <a:bodyPr wrap="square" lIns="0" tIns="0" rIns="0" bIns="0" rtlCol="0" anchor="t"/>
          <a:lstStyle/>
          <a:p>
            <a:pPr algn="ctr" indent="0" marL="0">
              <a:buNone/>
            </a:pPr>
            <a:r>
              <a:rPr lang="en-US" sz="1200" dirty="0">
                <a:solidFill>
                  <a:srgbClr val="9FB3D0"/>
                </a:solidFill>
                <a:latin typeface="Calibri" pitchFamily="34" charset="0"/>
                <a:ea typeface="Calibri" pitchFamily="34" charset="-122"/>
                <a:cs typeface="Calibri" pitchFamily="34" charset="-120"/>
              </a:rPr>
              <a:t>Computer and Systems Engineering Department, Faculty of Engineering, Alexandria University, Egypt      |      Team ALEXIS</a:t>
            </a:r>
            <a:endParaRPr lang="en-US" sz="1200" dirty="0"/>
          </a:p>
        </p:txBody>
      </p:sp>
      <p:sp>
        <p:nvSpPr>
          <p:cNvPr id="15" name="Text 8"/>
          <p:cNvSpPr txBox="1"/>
          <p:nvPr/>
        </p:nvSpPr>
        <p:spPr>
          <a:xfrm>
            <a:off x="731520" y="5852160"/>
            <a:ext cx="10728655" cy="384048"/>
          </a:xfrm>
          <a:prstGeom prst="rect">
            <a:avLst/>
          </a:prstGeom>
          <a:noFill/>
          <a:ln/>
        </p:spPr>
        <p:txBody>
          <a:bodyPr wrap="square" lIns="0" tIns="0" rIns="0" bIns="0" rtlCol="0" anchor="ctr"/>
          <a:lstStyle/>
          <a:p>
            <a:pPr algn="ctr" indent="0" marL="0">
              <a:buNone/>
            </a:pPr>
            <a:r>
              <a:rPr lang="en-US" sz="1400" b="1" dirty="0">
                <a:solidFill>
                  <a:srgbClr val="22C3FF"/>
                </a:solidFill>
                <a:latin typeface="Arial" pitchFamily="34" charset="0"/>
                <a:ea typeface="Arial" pitchFamily="34" charset="-122"/>
                <a:cs typeface="Arial" pitchFamily="34" charset="-120"/>
              </a:rPr>
              <a:t>Rank #2 of 4 teams  ·  spBLEU 25.84 / chrF++ 39.02  ·  best post-evaluation spBLEU 28.04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RESULTS AT A GLANCE</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Second of four, and 0.36 from first after the deadline</a:t>
            </a:r>
            <a:endParaRPr lang="en-US" sz="2800" dirty="0"/>
          </a:p>
        </p:txBody>
      </p:sp>
      <p:sp>
        <p:nvSpPr>
          <p:cNvPr id="5" name="Shape 2"/>
          <p:cNvSpPr/>
          <p:nvPr/>
        </p:nvSpPr>
        <p:spPr>
          <a:xfrm>
            <a:off x="457200"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6" name="Text 3"/>
          <p:cNvSpPr txBox="1"/>
          <p:nvPr/>
        </p:nvSpPr>
        <p:spPr>
          <a:xfrm>
            <a:off x="685800" y="1947672"/>
            <a:ext cx="2194560"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25.84</a:t>
            </a:r>
            <a:endParaRPr lang="en-US" sz="3000" dirty="0"/>
          </a:p>
        </p:txBody>
      </p:sp>
      <p:sp>
        <p:nvSpPr>
          <p:cNvPr id="7" name="Text 4"/>
          <p:cNvSpPr txBox="1"/>
          <p:nvPr/>
        </p:nvSpPr>
        <p:spPr>
          <a:xfrm>
            <a:off x="685800"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Official spBLEU</a:t>
            </a:r>
            <a:endParaRPr lang="en-US" sz="1200" dirty="0"/>
          </a:p>
        </p:txBody>
      </p:sp>
      <p:sp>
        <p:nvSpPr>
          <p:cNvPr id="8" name="Text 5"/>
          <p:cNvSpPr txBox="1"/>
          <p:nvPr/>
        </p:nvSpPr>
        <p:spPr>
          <a:xfrm>
            <a:off x="685800"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rank 2 of 4 · chrF++ 39.02</a:t>
            </a:r>
            <a:endParaRPr lang="en-US" sz="1150" dirty="0"/>
          </a:p>
        </p:txBody>
      </p:sp>
      <p:sp>
        <p:nvSpPr>
          <p:cNvPr id="9" name="Shape 6"/>
          <p:cNvSpPr/>
          <p:nvPr/>
        </p:nvSpPr>
        <p:spPr>
          <a:xfrm>
            <a:off x="3319272"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0" name="Text 7"/>
          <p:cNvSpPr txBox="1"/>
          <p:nvPr/>
        </p:nvSpPr>
        <p:spPr>
          <a:xfrm>
            <a:off x="3547872" y="1947672"/>
            <a:ext cx="2194560"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28.04</a:t>
            </a:r>
            <a:endParaRPr lang="en-US" sz="3000" dirty="0"/>
          </a:p>
        </p:txBody>
      </p:sp>
      <p:sp>
        <p:nvSpPr>
          <p:cNvPr id="11" name="Text 8"/>
          <p:cNvSpPr txBox="1"/>
          <p:nvPr/>
        </p:nvSpPr>
        <p:spPr>
          <a:xfrm>
            <a:off x="3547872"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Best post-evaluation</a:t>
            </a:r>
            <a:endParaRPr lang="en-US" sz="1200" dirty="0"/>
          </a:p>
        </p:txBody>
      </p:sp>
      <p:sp>
        <p:nvSpPr>
          <p:cNvPr id="12" name="Text 9"/>
          <p:cNvSpPr txBox="1"/>
          <p:nvPr/>
        </p:nvSpPr>
        <p:spPr>
          <a:xfrm>
            <a:off x="3547872"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DPO Config B · 0.36 below 1st (28.40)</a:t>
            </a:r>
            <a:endParaRPr lang="en-US" sz="1150" dirty="0"/>
          </a:p>
        </p:txBody>
      </p:sp>
      <p:sp>
        <p:nvSpPr>
          <p:cNvPr id="13" name="Shape 10"/>
          <p:cNvSpPr/>
          <p:nvPr/>
        </p:nvSpPr>
        <p:spPr>
          <a:xfrm>
            <a:off x="6181344"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4" name="Text 11"/>
          <p:cNvSpPr txBox="1"/>
          <p:nvPr/>
        </p:nvSpPr>
        <p:spPr>
          <a:xfrm>
            <a:off x="6409944" y="1947672"/>
            <a:ext cx="2194560" cy="566928"/>
          </a:xfrm>
          <a:prstGeom prst="rect">
            <a:avLst/>
          </a:prstGeom>
          <a:noFill/>
          <a:ln/>
        </p:spPr>
        <p:txBody>
          <a:bodyPr wrap="square" lIns="0" tIns="0" rIns="0" bIns="0" rtlCol="0" anchor="ctr"/>
          <a:lstStyle/>
          <a:p>
            <a:pPr indent="0" marL="0">
              <a:buNone/>
            </a:pPr>
            <a:r>
              <a:rPr lang="en-US" sz="3000" b="1" dirty="0">
                <a:solidFill>
                  <a:srgbClr val="B57400"/>
                </a:solidFill>
                <a:latin typeface="Arial" pitchFamily="34" charset="0"/>
                <a:ea typeface="Arial" pitchFamily="34" charset="-122"/>
                <a:cs typeface="Arial" pitchFamily="34" charset="-120"/>
              </a:rPr>
              <a:t>+8.9%</a:t>
            </a:r>
            <a:endParaRPr lang="en-US" sz="3000" dirty="0"/>
          </a:p>
        </p:txBody>
      </p:sp>
      <p:sp>
        <p:nvSpPr>
          <p:cNvPr id="15" name="Text 12"/>
          <p:cNvSpPr txBox="1"/>
          <p:nvPr/>
        </p:nvSpPr>
        <p:spPr>
          <a:xfrm>
            <a:off x="6409944"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One rank + epoch step</a:t>
            </a:r>
            <a:endParaRPr lang="en-US" sz="1200" dirty="0"/>
          </a:p>
        </p:txBody>
      </p:sp>
      <p:sp>
        <p:nvSpPr>
          <p:cNvPr id="16" name="Text 13"/>
          <p:cNvSpPr txBox="1"/>
          <p:nvPr/>
        </p:nvSpPr>
        <p:spPr>
          <a:xfrm>
            <a:off x="6409944"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beat three data-tuning rounds combined</a:t>
            </a:r>
            <a:endParaRPr lang="en-US" sz="1150" dirty="0"/>
          </a:p>
        </p:txBody>
      </p:sp>
      <p:sp>
        <p:nvSpPr>
          <p:cNvPr id="17" name="Shape 14"/>
          <p:cNvSpPr/>
          <p:nvPr/>
        </p:nvSpPr>
        <p:spPr>
          <a:xfrm>
            <a:off x="9043416"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8" name="Text 15"/>
          <p:cNvSpPr txBox="1"/>
          <p:nvPr/>
        </p:nvSpPr>
        <p:spPr>
          <a:xfrm>
            <a:off x="9272016" y="1947672"/>
            <a:ext cx="2194560" cy="566928"/>
          </a:xfrm>
          <a:prstGeom prst="rect">
            <a:avLst/>
          </a:prstGeom>
          <a:noFill/>
          <a:ln/>
        </p:spPr>
        <p:txBody>
          <a:bodyPr wrap="square" lIns="0" tIns="0" rIns="0" bIns="0" rtlCol="0" anchor="ctr"/>
          <a:lstStyle/>
          <a:p>
            <a:pPr indent="0" marL="0">
              <a:buNone/>
            </a:pPr>
            <a:r>
              <a:rPr lang="en-US" sz="3000" b="1" dirty="0">
                <a:solidFill>
                  <a:srgbClr val="0D1117"/>
                </a:solidFill>
                <a:latin typeface="Arial" pitchFamily="34" charset="0"/>
                <a:ea typeface="Arial" pitchFamily="34" charset="-122"/>
                <a:cs typeface="Arial" pitchFamily="34" charset="-120"/>
              </a:rPr>
              <a:t>70,139</a:t>
            </a:r>
            <a:endParaRPr lang="en-US" sz="3000" dirty="0"/>
          </a:p>
        </p:txBody>
      </p:sp>
      <p:sp>
        <p:nvSpPr>
          <p:cNvPr id="19" name="Text 16"/>
          <p:cNvSpPr txBox="1"/>
          <p:nvPr/>
        </p:nvSpPr>
        <p:spPr>
          <a:xfrm>
            <a:off x="9272016"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Training pairs</a:t>
            </a:r>
            <a:endParaRPr lang="en-US" sz="1200" dirty="0"/>
          </a:p>
        </p:txBody>
      </p:sp>
      <p:sp>
        <p:nvSpPr>
          <p:cNvPr id="20" name="Text 17"/>
          <p:cNvSpPr txBox="1"/>
          <p:nvPr/>
        </p:nvSpPr>
        <p:spPr>
          <a:xfrm>
            <a:off x="9272016"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3 trust tiers · 38 directions</a:t>
            </a:r>
            <a:endParaRPr lang="en-US" sz="1150" dirty="0"/>
          </a:p>
        </p:txBody>
      </p:sp>
      <p:sp>
        <p:nvSpPr>
          <p:cNvPr id="21" name="Shape 18"/>
          <p:cNvSpPr/>
          <p:nvPr/>
        </p:nvSpPr>
        <p:spPr>
          <a:xfrm>
            <a:off x="457200" y="365760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2" name="Image 0" descr="/home/aigca/ALEXIS/Posters/build/pptx/icons/layers_blue.png">    </p:cNvPr>
          <p:cNvPicPr>
            <a:picLocks noChangeAspect="1"/>
          </p:cNvPicPr>
          <p:nvPr/>
        </p:nvPicPr>
        <p:blipFill>
          <a:blip r:embed="rId1"/>
          <a:stretch>
            <a:fillRect/>
          </a:stretch>
        </p:blipFill>
        <p:spPr>
          <a:xfrm>
            <a:off x="658368" y="3858768"/>
            <a:ext cx="329184" cy="329184"/>
          </a:xfrm>
          <a:prstGeom prst="rect">
            <a:avLst/>
          </a:prstGeom>
        </p:spPr>
      </p:pic>
      <p:sp>
        <p:nvSpPr>
          <p:cNvPr id="23" name="Text 19"/>
          <p:cNvSpPr txBox="1"/>
          <p:nvPr/>
        </p:nvSpPr>
        <p:spPr>
          <a:xfrm>
            <a:off x="1115568" y="384962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Capacity looked more binding than data</a:t>
            </a:r>
            <a:endParaRPr lang="en-US" sz="1300" dirty="0"/>
          </a:p>
        </p:txBody>
      </p:sp>
      <p:sp>
        <p:nvSpPr>
          <p:cNvPr id="24" name="Text 20"/>
          <p:cNvSpPr txBox="1"/>
          <p:nvPr/>
        </p:nvSpPr>
        <p:spPr>
          <a:xfrm>
            <a:off x="658368" y="433425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Data rounds gave +3.8%, +2.7%, +1.8%; raising LoRA rank and epochs together gave +8.9%.</a:t>
            </a:r>
            <a:endParaRPr lang="en-US" sz="1250" dirty="0"/>
          </a:p>
        </p:txBody>
      </p:sp>
      <p:sp>
        <p:nvSpPr>
          <p:cNvPr id="25" name="Shape 21"/>
          <p:cNvSpPr/>
          <p:nvPr/>
        </p:nvSpPr>
        <p:spPr>
          <a:xfrm>
            <a:off x="4279392" y="365760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6" name="Image 1" descr="/home/aigca/ALEXIS/Posters/build/pptx/icons/timer_blue.png">    </p:cNvPr>
          <p:cNvPicPr>
            <a:picLocks noChangeAspect="1"/>
          </p:cNvPicPr>
          <p:nvPr/>
        </p:nvPicPr>
        <p:blipFill>
          <a:blip r:embed="rId2"/>
          <a:stretch>
            <a:fillRect/>
          </a:stretch>
        </p:blipFill>
        <p:spPr>
          <a:xfrm>
            <a:off x="4480560" y="3858768"/>
            <a:ext cx="329184" cy="329184"/>
          </a:xfrm>
          <a:prstGeom prst="rect">
            <a:avLst/>
          </a:prstGeom>
        </p:spPr>
      </p:pic>
      <p:sp>
        <p:nvSpPr>
          <p:cNvPr id="27" name="Text 22"/>
          <p:cNvSpPr txBox="1"/>
          <p:nvPr/>
        </p:nvSpPr>
        <p:spPr>
          <a:xfrm>
            <a:off x="4937760" y="384962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Planned training budgets were too short</a:t>
            </a:r>
            <a:endParaRPr lang="en-US" sz="1300" dirty="0"/>
          </a:p>
        </p:txBody>
      </p:sp>
      <p:sp>
        <p:nvSpPr>
          <p:cNvPr id="28" name="Text 23"/>
          <p:cNvSpPr txBox="1"/>
          <p:nvPr/>
        </p:nvSpPr>
        <p:spPr>
          <a:xfrm>
            <a:off x="4480560" y="433425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Training past the scheduled epochs was consistently the largest lever.</a:t>
            </a:r>
            <a:endParaRPr lang="en-US" sz="1250" dirty="0"/>
          </a:p>
        </p:txBody>
      </p:sp>
      <p:sp>
        <p:nvSpPr>
          <p:cNvPr id="29" name="Shape 24"/>
          <p:cNvSpPr/>
          <p:nvPr/>
        </p:nvSpPr>
        <p:spPr>
          <a:xfrm>
            <a:off x="8101584" y="365760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30" name="Image 2" descr="/home/aigca/ALEXIS/Posters/build/pptx/icons/shield_blue.png">    </p:cNvPr>
          <p:cNvPicPr>
            <a:picLocks noChangeAspect="1"/>
          </p:cNvPicPr>
          <p:nvPr/>
        </p:nvPicPr>
        <p:blipFill>
          <a:blip r:embed="rId3"/>
          <a:stretch>
            <a:fillRect/>
          </a:stretch>
        </p:blipFill>
        <p:spPr>
          <a:xfrm>
            <a:off x="8302752" y="3858768"/>
            <a:ext cx="329184" cy="329184"/>
          </a:xfrm>
          <a:prstGeom prst="rect">
            <a:avLst/>
          </a:prstGeom>
        </p:spPr>
      </p:pic>
      <p:sp>
        <p:nvSpPr>
          <p:cNvPr id="31" name="Text 25"/>
          <p:cNvSpPr txBox="1"/>
          <p:nvPr/>
        </p:nvSpPr>
        <p:spPr>
          <a:xfrm>
            <a:off x="8759952" y="384962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DPO helped only with the right reward</a:t>
            </a:r>
            <a:endParaRPr lang="en-US" sz="1300" dirty="0"/>
          </a:p>
        </p:txBody>
      </p:sp>
      <p:sp>
        <p:nvSpPr>
          <p:cNvPr id="32" name="Text 26"/>
          <p:cNvSpPr txBox="1"/>
          <p:nvPr/>
        </p:nvSpPr>
        <p:spPr>
          <a:xfrm>
            <a:off x="8302752" y="433425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Trusting every data tier hurt; a trust-restricted reward gave the best result.</a:t>
            </a:r>
            <a:endParaRPr lang="en-US" sz="12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THE TASK</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MSA ↔ six dialects, with almost no parallel text</a:t>
            </a:r>
            <a:endParaRPr lang="en-US" sz="2800" dirty="0"/>
          </a:p>
        </p:txBody>
      </p:sp>
      <p:sp>
        <p:nvSpPr>
          <p:cNvPr id="5" name="Text 2"/>
          <p:cNvSpPr txBox="1"/>
          <p:nvPr/>
        </p:nvSpPr>
        <p:spPr>
          <a:xfrm>
            <a:off x="457200" y="1600200"/>
            <a:ext cx="5394960" cy="219456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Each test instance is a (source dialect, sentence, target dialect) triple over short </a:t>
            </a:r>
            <a:pPr indent="0" marL="0">
              <a:buNone/>
            </a:pPr>
            <a:r>
              <a:rPr lang="en-US" sz="1500" b="1" dirty="0">
                <a:solidFill>
                  <a:srgbClr val="0D1117"/>
                </a:solidFill>
                <a:latin typeface="Calibri" pitchFamily="34" charset="0"/>
                <a:ea typeface="Calibri" pitchFamily="34" charset="-122"/>
                <a:cs typeface="Calibri" pitchFamily="34" charset="-120"/>
              </a:rPr>
              <a:t>banking-support</a:t>
            </a:r>
            <a:pPr indent="0" marL="0">
              <a:buNone/>
            </a:pPr>
            <a:r>
              <a:rPr lang="en-US" sz="1500" dirty="0">
                <a:solidFill>
                  <a:srgbClr val="5A6472"/>
                </a:solidFill>
                <a:latin typeface="Calibri" pitchFamily="34" charset="0"/>
                <a:ea typeface="Calibri" pitchFamily="34" charset="-122"/>
                <a:cs typeface="Calibri" pitchFamily="34" charset="-120"/>
              </a:rPr>
              <a:t> sentences. MSA appears only as a source or pivot, never as a scored target.</a:t>
            </a:r>
            <a:endParaRPr lang="en-US" sz="1500" dirty="0"/>
          </a:p>
          <a:p>
            <a:pPr indent="0" marL="0">
              <a:buNone/>
            </a:pPr>
            <a:r>
              <a:rPr lang="en-US" sz="1500" dirty="0">
                <a:solidFill>
                  <a:srgbClr val="5A6472"/>
                </a:solidFill>
                <a:latin typeface="Calibri" pitchFamily="34" charset="0"/>
                <a:ea typeface="Calibri" pitchFamily="34" charset="-122"/>
                <a:cs typeface="Calibri" pitchFamily="34" charset="-120"/>
              </a:rPr>
              <a:t> </a:t>
            </a:r>
            <a:endParaRPr lang="en-US" sz="1500" dirty="0"/>
          </a:p>
          <a:p>
            <a:pPr indent="0" marL="0">
              <a:buNone/>
            </a:pPr>
            <a:r>
              <a:rPr lang="en-US" sz="1500" dirty="0">
                <a:solidFill>
                  <a:srgbClr val="5A6472"/>
                </a:solidFill>
                <a:latin typeface="Calibri" pitchFamily="34" charset="0"/>
                <a:ea typeface="Calibri" pitchFamily="34" charset="-122"/>
                <a:cs typeface="Calibri" pitchFamily="34" charset="-120"/>
              </a:rPr>
              <a:t>A blind test set of </a:t>
            </a:r>
            <a:pPr indent="0" marL="0">
              <a:buNone/>
            </a:pPr>
            <a:r>
              <a:rPr lang="en-US" sz="1500" b="1" dirty="0">
                <a:solidFill>
                  <a:srgbClr val="0D1117"/>
                </a:solidFill>
                <a:latin typeface="Calibri" pitchFamily="34" charset="0"/>
                <a:ea typeface="Calibri" pitchFamily="34" charset="-122"/>
                <a:cs typeface="Calibri" pitchFamily="34" charset="-120"/>
              </a:rPr>
              <a:t>3,574 rows</a:t>
            </a:r>
            <a:pPr indent="0" marL="0">
              <a:buNone/>
            </a:pPr>
            <a:r>
              <a:rPr lang="en-US" sz="1500" dirty="0">
                <a:solidFill>
                  <a:srgbClr val="5A6472"/>
                </a:solidFill>
                <a:latin typeface="Calibri" pitchFamily="34" charset="0"/>
                <a:ea typeface="Calibri" pitchFamily="34" charset="-122"/>
                <a:cs typeface="Calibri" pitchFamily="34" charset="-120"/>
              </a:rPr>
              <a:t> is scored with </a:t>
            </a:r>
            <a:pPr indent="0" marL="0">
              <a:buNone/>
            </a:pPr>
            <a:r>
              <a:rPr lang="en-US" sz="1500" b="1" dirty="0">
                <a:solidFill>
                  <a:srgbClr val="0D1117"/>
                </a:solidFill>
                <a:latin typeface="Calibri" pitchFamily="34" charset="0"/>
                <a:ea typeface="Calibri" pitchFamily="34" charset="-122"/>
                <a:cs typeface="Calibri" pitchFamily="34" charset="-120"/>
              </a:rPr>
              <a:t>spBLEU</a:t>
            </a:r>
            <a:pPr indent="0" marL="0">
              <a:buNone/>
            </a:pPr>
            <a:r>
              <a:rPr lang="en-US" sz="1500" dirty="0">
                <a:solidFill>
                  <a:srgbClr val="5A6472"/>
                </a:solidFill>
                <a:latin typeface="Calibri" pitchFamily="34" charset="0"/>
                <a:ea typeface="Calibri" pitchFamily="34" charset="-122"/>
                <a:cs typeface="Calibri" pitchFamily="34" charset="-120"/>
              </a:rPr>
              <a:t> (FLORES-200 SentencePiece) and </a:t>
            </a:r>
            <a:pPr indent="0" marL="0">
              <a:buNone/>
            </a:pPr>
            <a:r>
              <a:rPr lang="en-US" sz="1500" b="1" dirty="0">
                <a:solidFill>
                  <a:srgbClr val="0D1117"/>
                </a:solidFill>
                <a:latin typeface="Calibri" pitchFamily="34" charset="0"/>
                <a:ea typeface="Calibri" pitchFamily="34" charset="-122"/>
                <a:cs typeface="Calibri" pitchFamily="34" charset="-120"/>
              </a:rPr>
              <a:t>chrF++</a:t>
            </a:r>
            <a:pPr indent="0" marL="0">
              <a:buNone/>
            </a:pPr>
            <a:r>
              <a:rPr lang="en-US" sz="1500" dirty="0">
                <a:solidFill>
                  <a:srgbClr val="5A6472"/>
                </a:solidFill>
                <a:latin typeface="Calibri" pitchFamily="34" charset="0"/>
                <a:ea typeface="Calibri" pitchFamily="34" charset="-122"/>
                <a:cs typeface="Calibri" pitchFamily="34" charset="-120"/>
              </a:rPr>
              <a:t>.</a:t>
            </a:r>
            <a:endParaRPr lang="en-US" sz="1500" dirty="0"/>
          </a:p>
        </p:txBody>
      </p:sp>
      <p:sp>
        <p:nvSpPr>
          <p:cNvPr id="6" name="Shape 3"/>
          <p:cNvSpPr/>
          <p:nvPr/>
        </p:nvSpPr>
        <p:spPr>
          <a:xfrm>
            <a:off x="457200" y="4023360"/>
            <a:ext cx="5394960" cy="1005840"/>
          </a:xfrm>
          <a:prstGeom prst="roundRect">
            <a:avLst>
              <a:gd name="adj" fmla="val 7273"/>
            </a:avLst>
          </a:prstGeom>
          <a:solidFill>
            <a:srgbClr val="EAF1FF"/>
          </a:solidFill>
          <a:ln w="9525">
            <a:solidFill>
              <a:srgbClr val="C9DAFD"/>
            </a:solidFill>
            <a:prstDash val="solid"/>
          </a:ln>
        </p:spPr>
      </p:sp>
      <p:pic>
        <p:nvPicPr>
          <p:cNvPr id="7" name="Image 0" descr="/home/aigca/ALEXIS/Posters/build/pptx/icons/bulb_blue.png">    </p:cNvPr>
          <p:cNvPicPr>
            <a:picLocks noChangeAspect="1"/>
          </p:cNvPicPr>
          <p:nvPr/>
        </p:nvPicPr>
        <p:blipFill>
          <a:blip r:embed="rId1"/>
          <a:stretch>
            <a:fillRect/>
          </a:stretch>
        </p:blipFill>
        <p:spPr>
          <a:xfrm>
            <a:off x="640080" y="4389120"/>
            <a:ext cx="274320" cy="274320"/>
          </a:xfrm>
          <a:prstGeom prst="rect">
            <a:avLst/>
          </a:prstGeom>
        </p:spPr>
      </p:pic>
      <p:sp>
        <p:nvSpPr>
          <p:cNvPr id="8" name="Text 4"/>
          <p:cNvSpPr txBox="1"/>
          <p:nvPr/>
        </p:nvSpPr>
        <p:spPr>
          <a:xfrm>
            <a:off x="1051560" y="4023360"/>
            <a:ext cx="4617720" cy="100584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The sentences are short and formulaic: the obstacle is uneven data scarcity, not translation difficulty in the usual sense.</a:t>
            </a:r>
            <a:endParaRPr lang="en-US" sz="1300" dirty="0"/>
          </a:p>
        </p:txBody>
      </p:sp>
      <p:sp>
        <p:nvSpPr>
          <p:cNvPr id="9" name="Shape 5"/>
          <p:cNvSpPr/>
          <p:nvPr/>
        </p:nvSpPr>
        <p:spPr>
          <a:xfrm>
            <a:off x="6172200" y="1600200"/>
            <a:ext cx="2606040" cy="987552"/>
          </a:xfrm>
          <a:prstGeom prst="roundRect">
            <a:avLst>
              <a:gd name="adj" fmla="val 7407"/>
            </a:avLst>
          </a:prstGeom>
          <a:solidFill>
            <a:srgbClr val="FFF4E6"/>
          </a:solidFill>
          <a:ln w="9525">
            <a:solidFill>
              <a:srgbClr val="F3D19A"/>
            </a:solidFill>
            <a:prstDash val="solid"/>
          </a:ln>
        </p:spPr>
      </p:sp>
      <p:pic>
        <p:nvPicPr>
          <p:cNvPr id="10" name="Image 1" descr="/home/aigca/ALEXIS/Posters/build/pptx/icons/languages_amber.png">    </p:cNvPr>
          <p:cNvPicPr>
            <a:picLocks noChangeAspect="1"/>
          </p:cNvPicPr>
          <p:nvPr/>
        </p:nvPicPr>
        <p:blipFill>
          <a:blip r:embed="rId2"/>
          <a:stretch>
            <a:fillRect/>
          </a:stretch>
        </p:blipFill>
        <p:spPr>
          <a:xfrm>
            <a:off x="6336792" y="1783080"/>
            <a:ext cx="292608" cy="292608"/>
          </a:xfrm>
          <a:prstGeom prst="rect">
            <a:avLst/>
          </a:prstGeom>
        </p:spPr>
      </p:pic>
      <p:sp>
        <p:nvSpPr>
          <p:cNvPr id="11" name="Text 6"/>
          <p:cNvSpPr txBox="1"/>
          <p:nvPr/>
        </p:nvSpPr>
        <p:spPr>
          <a:xfrm>
            <a:off x="6739128" y="1728216"/>
            <a:ext cx="1920240" cy="384048"/>
          </a:xfrm>
          <a:prstGeom prst="rect">
            <a:avLst/>
          </a:prstGeom>
          <a:noFill/>
          <a:ln/>
        </p:spPr>
        <p:txBody>
          <a:bodyPr wrap="square" lIns="0" tIns="0" rIns="0" bIns="0" rtlCol="0" anchor="ctr"/>
          <a:lstStyle/>
          <a:p>
            <a:pPr indent="0" marL="0">
              <a:buNone/>
            </a:pPr>
            <a:r>
              <a:rPr lang="en-US" sz="1500" b="1" dirty="0">
                <a:solidFill>
                  <a:srgbClr val="B57400"/>
                </a:solidFill>
                <a:latin typeface="Arial" pitchFamily="34" charset="0"/>
                <a:ea typeface="Arial" pitchFamily="34" charset="-122"/>
                <a:cs typeface="Arial" pitchFamily="34" charset="-120"/>
              </a:rPr>
              <a:t>Egyptian</a:t>
            </a:r>
            <a:endParaRPr lang="en-US" sz="1500" dirty="0"/>
          </a:p>
        </p:txBody>
      </p:sp>
      <p:sp>
        <p:nvSpPr>
          <p:cNvPr id="12" name="Text 7"/>
          <p:cNvSpPr txBox="1"/>
          <p:nvPr/>
        </p:nvSpPr>
        <p:spPr>
          <a:xfrm>
            <a:off x="6739128" y="2103120"/>
            <a:ext cx="1965960" cy="41148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no real or minable parallel text</a:t>
            </a:r>
            <a:endParaRPr lang="en-US" sz="1150" dirty="0"/>
          </a:p>
        </p:txBody>
      </p:sp>
      <p:sp>
        <p:nvSpPr>
          <p:cNvPr id="13" name="Shape 8"/>
          <p:cNvSpPr/>
          <p:nvPr/>
        </p:nvSpPr>
        <p:spPr>
          <a:xfrm>
            <a:off x="8961120" y="1600200"/>
            <a:ext cx="2606040" cy="987552"/>
          </a:xfrm>
          <a:prstGeom prst="roundRect">
            <a:avLst>
              <a:gd name="adj" fmla="val 7407"/>
            </a:avLst>
          </a:prstGeom>
          <a:solidFill>
            <a:srgbClr val="FFF4E6"/>
          </a:solidFill>
          <a:ln w="9525">
            <a:solidFill>
              <a:srgbClr val="F3D19A"/>
            </a:solidFill>
            <a:prstDash val="solid"/>
          </a:ln>
        </p:spPr>
      </p:sp>
      <p:pic>
        <p:nvPicPr>
          <p:cNvPr id="14" name="Image 2" descr="/home/aigca/ALEXIS/Posters/build/pptx/icons/languages_amber.png">    </p:cNvPr>
          <p:cNvPicPr>
            <a:picLocks noChangeAspect="1"/>
          </p:cNvPicPr>
          <p:nvPr/>
        </p:nvPicPr>
        <p:blipFill>
          <a:blip r:embed="rId3"/>
          <a:stretch>
            <a:fillRect/>
          </a:stretch>
        </p:blipFill>
        <p:spPr>
          <a:xfrm>
            <a:off x="9125712" y="1783080"/>
            <a:ext cx="292608" cy="292608"/>
          </a:xfrm>
          <a:prstGeom prst="rect">
            <a:avLst/>
          </a:prstGeom>
        </p:spPr>
      </p:pic>
      <p:sp>
        <p:nvSpPr>
          <p:cNvPr id="15" name="Text 9"/>
          <p:cNvSpPr txBox="1"/>
          <p:nvPr/>
        </p:nvSpPr>
        <p:spPr>
          <a:xfrm>
            <a:off x="9528048" y="1728216"/>
            <a:ext cx="1920240" cy="384048"/>
          </a:xfrm>
          <a:prstGeom prst="rect">
            <a:avLst/>
          </a:prstGeom>
          <a:noFill/>
          <a:ln/>
        </p:spPr>
        <p:txBody>
          <a:bodyPr wrap="square" lIns="0" tIns="0" rIns="0" bIns="0" rtlCol="0" anchor="ctr"/>
          <a:lstStyle/>
          <a:p>
            <a:pPr indent="0" marL="0">
              <a:buNone/>
            </a:pPr>
            <a:r>
              <a:rPr lang="en-US" sz="1500" b="1" dirty="0">
                <a:solidFill>
                  <a:srgbClr val="B57400"/>
                </a:solidFill>
                <a:latin typeface="Arial" pitchFamily="34" charset="0"/>
                <a:ea typeface="Arial" pitchFamily="34" charset="-122"/>
                <a:cs typeface="Arial" pitchFamily="34" charset="-120"/>
              </a:rPr>
              <a:t>Lebanese</a:t>
            </a:r>
            <a:endParaRPr lang="en-US" sz="1500" dirty="0"/>
          </a:p>
        </p:txBody>
      </p:sp>
      <p:sp>
        <p:nvSpPr>
          <p:cNvPr id="16" name="Text 10"/>
          <p:cNvSpPr txBox="1"/>
          <p:nvPr/>
        </p:nvSpPr>
        <p:spPr>
          <a:xfrm>
            <a:off x="9528048" y="2103120"/>
            <a:ext cx="1965960" cy="41148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no real or minable parallel text</a:t>
            </a:r>
            <a:endParaRPr lang="en-US" sz="1150" dirty="0"/>
          </a:p>
        </p:txBody>
      </p:sp>
      <p:sp>
        <p:nvSpPr>
          <p:cNvPr id="17" name="Shape 11"/>
          <p:cNvSpPr/>
          <p:nvPr/>
        </p:nvSpPr>
        <p:spPr>
          <a:xfrm>
            <a:off x="6172200" y="2743200"/>
            <a:ext cx="2606040" cy="987552"/>
          </a:xfrm>
          <a:prstGeom prst="roundRect">
            <a:avLst>
              <a:gd name="adj" fmla="val 7407"/>
            </a:avLst>
          </a:prstGeom>
          <a:solidFill>
            <a:srgbClr val="EAF1FF"/>
          </a:solidFill>
          <a:ln w="9525">
            <a:solidFill>
              <a:srgbClr val="C9DAFD"/>
            </a:solidFill>
            <a:prstDash val="solid"/>
          </a:ln>
        </p:spPr>
      </p:sp>
      <p:pic>
        <p:nvPicPr>
          <p:cNvPr id="18" name="Image 3" descr="/home/aigca/ALEXIS/Posters/build/pptx/icons/languages_blue.png">    </p:cNvPr>
          <p:cNvPicPr>
            <a:picLocks noChangeAspect="1"/>
          </p:cNvPicPr>
          <p:nvPr/>
        </p:nvPicPr>
        <p:blipFill>
          <a:blip r:embed="rId4"/>
          <a:stretch>
            <a:fillRect/>
          </a:stretch>
        </p:blipFill>
        <p:spPr>
          <a:xfrm>
            <a:off x="6336792" y="2926080"/>
            <a:ext cx="292608" cy="292608"/>
          </a:xfrm>
          <a:prstGeom prst="rect">
            <a:avLst/>
          </a:prstGeom>
        </p:spPr>
      </p:pic>
      <p:sp>
        <p:nvSpPr>
          <p:cNvPr id="19" name="Text 12"/>
          <p:cNvSpPr txBox="1"/>
          <p:nvPr/>
        </p:nvSpPr>
        <p:spPr>
          <a:xfrm>
            <a:off x="6739128" y="2871216"/>
            <a:ext cx="1920240" cy="384048"/>
          </a:xfrm>
          <a:prstGeom prst="rect">
            <a:avLst/>
          </a:prstGeom>
          <a:noFill/>
          <a:ln/>
        </p:spPr>
        <p:txBody>
          <a:bodyPr wrap="square" lIns="0" tIns="0" rIns="0" bIns="0" rtlCol="0" anchor="ctr"/>
          <a:lstStyle/>
          <a:p>
            <a:pPr indent="0" marL="0">
              <a:buNone/>
            </a:pPr>
            <a:r>
              <a:rPr lang="en-US" sz="1500" b="1" dirty="0">
                <a:solidFill>
                  <a:srgbClr val="1553CC"/>
                </a:solidFill>
                <a:latin typeface="Arial" pitchFamily="34" charset="0"/>
                <a:ea typeface="Arial" pitchFamily="34" charset="-122"/>
                <a:cs typeface="Arial" pitchFamily="34" charset="-120"/>
              </a:rPr>
              <a:t>Moroccan</a:t>
            </a:r>
            <a:endParaRPr lang="en-US" sz="1500" dirty="0"/>
          </a:p>
        </p:txBody>
      </p:sp>
      <p:sp>
        <p:nvSpPr>
          <p:cNvPr id="20" name="Text 13"/>
          <p:cNvSpPr txBox="1"/>
          <p:nvPr/>
        </p:nvSpPr>
        <p:spPr>
          <a:xfrm>
            <a:off x="6739128" y="3246120"/>
            <a:ext cx="1965960" cy="41148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mined pairs</a:t>
            </a:r>
            <a:endParaRPr lang="en-US" sz="1150" dirty="0"/>
          </a:p>
        </p:txBody>
      </p:sp>
      <p:sp>
        <p:nvSpPr>
          <p:cNvPr id="21" name="Shape 14"/>
          <p:cNvSpPr/>
          <p:nvPr/>
        </p:nvSpPr>
        <p:spPr>
          <a:xfrm>
            <a:off x="8961120" y="2743200"/>
            <a:ext cx="2606040" cy="987552"/>
          </a:xfrm>
          <a:prstGeom prst="roundRect">
            <a:avLst>
              <a:gd name="adj" fmla="val 7407"/>
            </a:avLst>
          </a:prstGeom>
          <a:solidFill>
            <a:srgbClr val="EAF1FF"/>
          </a:solidFill>
          <a:ln w="9525">
            <a:solidFill>
              <a:srgbClr val="C9DAFD"/>
            </a:solidFill>
            <a:prstDash val="solid"/>
          </a:ln>
        </p:spPr>
      </p:sp>
      <p:pic>
        <p:nvPicPr>
          <p:cNvPr id="22" name="Image 4" descr="/home/aigca/ALEXIS/Posters/build/pptx/icons/languages_blue.png">    </p:cNvPr>
          <p:cNvPicPr>
            <a:picLocks noChangeAspect="1"/>
          </p:cNvPicPr>
          <p:nvPr/>
        </p:nvPicPr>
        <p:blipFill>
          <a:blip r:embed="rId5"/>
          <a:stretch>
            <a:fillRect/>
          </a:stretch>
        </p:blipFill>
        <p:spPr>
          <a:xfrm>
            <a:off x="9125712" y="2926080"/>
            <a:ext cx="292608" cy="292608"/>
          </a:xfrm>
          <a:prstGeom prst="rect">
            <a:avLst/>
          </a:prstGeom>
        </p:spPr>
      </p:pic>
      <p:sp>
        <p:nvSpPr>
          <p:cNvPr id="23" name="Text 15"/>
          <p:cNvSpPr txBox="1"/>
          <p:nvPr/>
        </p:nvSpPr>
        <p:spPr>
          <a:xfrm>
            <a:off x="9528048" y="2871216"/>
            <a:ext cx="1920240" cy="384048"/>
          </a:xfrm>
          <a:prstGeom prst="rect">
            <a:avLst/>
          </a:prstGeom>
          <a:noFill/>
          <a:ln/>
        </p:spPr>
        <p:txBody>
          <a:bodyPr wrap="square" lIns="0" tIns="0" rIns="0" bIns="0" rtlCol="0" anchor="ctr"/>
          <a:lstStyle/>
          <a:p>
            <a:pPr indent="0" marL="0">
              <a:buNone/>
            </a:pPr>
            <a:r>
              <a:rPr lang="en-US" sz="1500" b="1" dirty="0">
                <a:solidFill>
                  <a:srgbClr val="1553CC"/>
                </a:solidFill>
                <a:latin typeface="Arial" pitchFamily="34" charset="0"/>
                <a:ea typeface="Arial" pitchFamily="34" charset="-122"/>
                <a:cs typeface="Arial" pitchFamily="34" charset="-120"/>
              </a:rPr>
              <a:t>Palestinian</a:t>
            </a:r>
            <a:endParaRPr lang="en-US" sz="1500" dirty="0"/>
          </a:p>
        </p:txBody>
      </p:sp>
      <p:sp>
        <p:nvSpPr>
          <p:cNvPr id="24" name="Text 16"/>
          <p:cNvSpPr txBox="1"/>
          <p:nvPr/>
        </p:nvSpPr>
        <p:spPr>
          <a:xfrm>
            <a:off x="9528048" y="3246120"/>
            <a:ext cx="1965960" cy="41148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gold + mined pairs</a:t>
            </a:r>
            <a:endParaRPr lang="en-US" sz="1150" dirty="0"/>
          </a:p>
        </p:txBody>
      </p:sp>
      <p:sp>
        <p:nvSpPr>
          <p:cNvPr id="25" name="Shape 17"/>
          <p:cNvSpPr/>
          <p:nvPr/>
        </p:nvSpPr>
        <p:spPr>
          <a:xfrm>
            <a:off x="6172200" y="3886200"/>
            <a:ext cx="2606040" cy="987552"/>
          </a:xfrm>
          <a:prstGeom prst="roundRect">
            <a:avLst>
              <a:gd name="adj" fmla="val 7407"/>
            </a:avLst>
          </a:prstGeom>
          <a:solidFill>
            <a:srgbClr val="EAF1FF"/>
          </a:solidFill>
          <a:ln w="9525">
            <a:solidFill>
              <a:srgbClr val="C9DAFD"/>
            </a:solidFill>
            <a:prstDash val="solid"/>
          </a:ln>
        </p:spPr>
      </p:sp>
      <p:pic>
        <p:nvPicPr>
          <p:cNvPr id="26" name="Image 5" descr="/home/aigca/ALEXIS/Posters/build/pptx/icons/languages_blue.png">    </p:cNvPr>
          <p:cNvPicPr>
            <a:picLocks noChangeAspect="1"/>
          </p:cNvPicPr>
          <p:nvPr/>
        </p:nvPicPr>
        <p:blipFill>
          <a:blip r:embed="rId6"/>
          <a:stretch>
            <a:fillRect/>
          </a:stretch>
        </p:blipFill>
        <p:spPr>
          <a:xfrm>
            <a:off x="6336792" y="4069080"/>
            <a:ext cx="292608" cy="292608"/>
          </a:xfrm>
          <a:prstGeom prst="rect">
            <a:avLst/>
          </a:prstGeom>
        </p:spPr>
      </p:pic>
      <p:sp>
        <p:nvSpPr>
          <p:cNvPr id="27" name="Text 18"/>
          <p:cNvSpPr txBox="1"/>
          <p:nvPr/>
        </p:nvSpPr>
        <p:spPr>
          <a:xfrm>
            <a:off x="6739128" y="4014216"/>
            <a:ext cx="1920240" cy="384048"/>
          </a:xfrm>
          <a:prstGeom prst="rect">
            <a:avLst/>
          </a:prstGeom>
          <a:noFill/>
          <a:ln/>
        </p:spPr>
        <p:txBody>
          <a:bodyPr wrap="square" lIns="0" tIns="0" rIns="0" bIns="0" rtlCol="0" anchor="ctr"/>
          <a:lstStyle/>
          <a:p>
            <a:pPr indent="0" marL="0">
              <a:buNone/>
            </a:pPr>
            <a:r>
              <a:rPr lang="en-US" sz="1500" b="1" dirty="0">
                <a:solidFill>
                  <a:srgbClr val="1553CC"/>
                </a:solidFill>
                <a:latin typeface="Arial" pitchFamily="34" charset="0"/>
                <a:ea typeface="Arial" pitchFamily="34" charset="-122"/>
                <a:cs typeface="Arial" pitchFamily="34" charset="-120"/>
              </a:rPr>
              <a:t>Saudi</a:t>
            </a:r>
            <a:endParaRPr lang="en-US" sz="1500" dirty="0"/>
          </a:p>
        </p:txBody>
      </p:sp>
      <p:sp>
        <p:nvSpPr>
          <p:cNvPr id="28" name="Text 19"/>
          <p:cNvSpPr txBox="1"/>
          <p:nvPr/>
        </p:nvSpPr>
        <p:spPr>
          <a:xfrm>
            <a:off x="6739128" y="4389120"/>
            <a:ext cx="1965960" cy="41148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mined pairs</a:t>
            </a:r>
            <a:endParaRPr lang="en-US" sz="1150" dirty="0"/>
          </a:p>
        </p:txBody>
      </p:sp>
      <p:sp>
        <p:nvSpPr>
          <p:cNvPr id="29" name="Shape 20"/>
          <p:cNvSpPr/>
          <p:nvPr/>
        </p:nvSpPr>
        <p:spPr>
          <a:xfrm>
            <a:off x="8961120" y="3886200"/>
            <a:ext cx="2606040" cy="987552"/>
          </a:xfrm>
          <a:prstGeom prst="roundRect">
            <a:avLst>
              <a:gd name="adj" fmla="val 7407"/>
            </a:avLst>
          </a:prstGeom>
          <a:solidFill>
            <a:srgbClr val="EAF1FF"/>
          </a:solidFill>
          <a:ln w="9525">
            <a:solidFill>
              <a:srgbClr val="C9DAFD"/>
            </a:solidFill>
            <a:prstDash val="solid"/>
          </a:ln>
        </p:spPr>
      </p:sp>
      <p:pic>
        <p:nvPicPr>
          <p:cNvPr id="30" name="Image 6" descr="/home/aigca/ALEXIS/Posters/build/pptx/icons/languages_blue.png">    </p:cNvPr>
          <p:cNvPicPr>
            <a:picLocks noChangeAspect="1"/>
          </p:cNvPicPr>
          <p:nvPr/>
        </p:nvPicPr>
        <p:blipFill>
          <a:blip r:embed="rId7"/>
          <a:stretch>
            <a:fillRect/>
          </a:stretch>
        </p:blipFill>
        <p:spPr>
          <a:xfrm>
            <a:off x="9125712" y="4069080"/>
            <a:ext cx="292608" cy="292608"/>
          </a:xfrm>
          <a:prstGeom prst="rect">
            <a:avLst/>
          </a:prstGeom>
        </p:spPr>
      </p:pic>
      <p:sp>
        <p:nvSpPr>
          <p:cNvPr id="31" name="Text 21"/>
          <p:cNvSpPr txBox="1"/>
          <p:nvPr/>
        </p:nvSpPr>
        <p:spPr>
          <a:xfrm>
            <a:off x="9528048" y="4014216"/>
            <a:ext cx="1920240" cy="384048"/>
          </a:xfrm>
          <a:prstGeom prst="rect">
            <a:avLst/>
          </a:prstGeom>
          <a:noFill/>
          <a:ln/>
        </p:spPr>
        <p:txBody>
          <a:bodyPr wrap="square" lIns="0" tIns="0" rIns="0" bIns="0" rtlCol="0" anchor="ctr"/>
          <a:lstStyle/>
          <a:p>
            <a:pPr indent="0" marL="0">
              <a:buNone/>
            </a:pPr>
            <a:r>
              <a:rPr lang="en-US" sz="1500" b="1" dirty="0">
                <a:solidFill>
                  <a:srgbClr val="1553CC"/>
                </a:solidFill>
                <a:latin typeface="Arial" pitchFamily="34" charset="0"/>
                <a:ea typeface="Arial" pitchFamily="34" charset="-122"/>
                <a:cs typeface="Arial" pitchFamily="34" charset="-120"/>
              </a:rPr>
              <a:t>Tunisian</a:t>
            </a:r>
            <a:endParaRPr lang="en-US" sz="1500" dirty="0"/>
          </a:p>
        </p:txBody>
      </p:sp>
      <p:sp>
        <p:nvSpPr>
          <p:cNvPr id="32" name="Text 22"/>
          <p:cNvSpPr txBox="1"/>
          <p:nvPr/>
        </p:nvSpPr>
        <p:spPr>
          <a:xfrm>
            <a:off x="9528048" y="4389120"/>
            <a:ext cx="1965960" cy="41148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mined pairs</a:t>
            </a:r>
            <a:endParaRPr lang="en-US" sz="1150" dirty="0"/>
          </a:p>
        </p:txBody>
      </p:sp>
      <p:sp>
        <p:nvSpPr>
          <p:cNvPr id="33" name="Text 23"/>
          <p:cNvSpPr txBox="1"/>
          <p:nvPr/>
        </p:nvSpPr>
        <p:spPr>
          <a:xfrm>
            <a:off x="6172200" y="5074920"/>
            <a:ext cx="5440680" cy="86868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Egyptian + Lebanese ≈ 39% of test rows (our estimate from the test file, not an official breakdown). FLORES-200 has no one-to-one code for every dialect: Palestinian and Saudi use the closest broader Levantine and Peninsular codes.</a:t>
            </a:r>
            <a:endParaRPr lang="en-US" sz="11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TRAINING DATA</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A three-tier corpus built from ArBanking77</a:t>
            </a:r>
            <a:endParaRPr lang="en-US" sz="2800" dirty="0"/>
          </a:p>
        </p:txBody>
      </p:sp>
      <p:sp>
        <p:nvSpPr>
          <p:cNvPr id="5" name="Shape 2"/>
          <p:cNvSpPr/>
          <p:nvPr/>
        </p:nvSpPr>
        <p:spPr>
          <a:xfrm>
            <a:off x="457200" y="1600200"/>
            <a:ext cx="5760720" cy="4023360"/>
          </a:xfrm>
          <a:prstGeom prst="roundRect">
            <a:avLst>
              <a:gd name="adj" fmla="val 1818"/>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graphicFrame>
        <p:nvGraphicFramePr>
          <p:cNvPr id="6" name="Chart 0" descr=""/>
          <p:cNvGraphicFramePr/>
          <p:nvPr/>
        </p:nvGraphicFramePr>
        <p:xfrm>
          <a:off x="594360" y="1737360"/>
          <a:ext cx="5486400" cy="37490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446520" y="1600200"/>
            <a:ext cx="5285232" cy="1261872"/>
          </a:xfrm>
          <a:prstGeom prst="roundRect">
            <a:avLst>
              <a:gd name="adj" fmla="val 579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8" name="Image 0" descr="/home/aigca/ALEXIS/Posters/build/pptx/icons/database_blue.png">    </p:cNvPr>
          <p:cNvPicPr>
            <a:picLocks noChangeAspect="1"/>
          </p:cNvPicPr>
          <p:nvPr/>
        </p:nvPicPr>
        <p:blipFill>
          <a:blip r:embed="rId2"/>
          <a:stretch>
            <a:fillRect/>
          </a:stretch>
        </p:blipFill>
        <p:spPr>
          <a:xfrm>
            <a:off x="6647688" y="1801368"/>
            <a:ext cx="329184" cy="329184"/>
          </a:xfrm>
          <a:prstGeom prst="rect">
            <a:avLst/>
          </a:prstGeom>
        </p:spPr>
      </p:pic>
      <p:sp>
        <p:nvSpPr>
          <p:cNvPr id="9" name="Text 4"/>
          <p:cNvSpPr txBox="1"/>
          <p:nvPr/>
        </p:nvSpPr>
        <p:spPr>
          <a:xfrm>
            <a:off x="7104888" y="1792224"/>
            <a:ext cx="4425696"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Gold · verified</a:t>
            </a:r>
            <a:endParaRPr lang="en-US" sz="1300" dirty="0"/>
          </a:p>
        </p:txBody>
      </p:sp>
      <p:sp>
        <p:nvSpPr>
          <p:cNvPr id="10" name="Text 5"/>
          <p:cNvSpPr txBox="1"/>
          <p:nvPr/>
        </p:nvSpPr>
        <p:spPr>
          <a:xfrm>
            <a:off x="6647688" y="2276856"/>
            <a:ext cx="4882896" cy="585216"/>
          </a:xfrm>
          <a:prstGeom prst="rect">
            <a:avLst/>
          </a:prstGeom>
          <a:noFill/>
          <a:ln/>
        </p:spPr>
        <p:txBody>
          <a:bodyPr wrap="square" lIns="0" tIns="0" rIns="0" bIns="0" rtlCol="0" anchor="t"/>
          <a:lstStyle/>
          <a:p>
            <a:pPr indent="0" marL="0">
              <a:spcAft>
                <a:spcPts val="400"/>
              </a:spcAft>
              <a:buNone/>
            </a:pPr>
            <a:r>
              <a:rPr lang="en-US" sz="1150" dirty="0">
                <a:solidFill>
                  <a:srgbClr val="5A6472"/>
                </a:solidFill>
                <a:latin typeface="Calibri" pitchFamily="34" charset="0"/>
                <a:ea typeface="Calibri" pitchFamily="34" charset="-122"/>
                <a:cs typeface="Calibri" pitchFamily="34" charset="-120"/>
              </a:rPr>
              <a:t>Real, human-written MSA–Palestinian pairs: the only tier with a genuine ground-truth target.</a:t>
            </a:r>
            <a:endParaRPr lang="en-US" sz="1150" dirty="0"/>
          </a:p>
        </p:txBody>
      </p:sp>
      <p:sp>
        <p:nvSpPr>
          <p:cNvPr id="11" name="Shape 6"/>
          <p:cNvSpPr/>
          <p:nvPr/>
        </p:nvSpPr>
        <p:spPr>
          <a:xfrm>
            <a:off x="6446520" y="2971800"/>
            <a:ext cx="5285232" cy="1261872"/>
          </a:xfrm>
          <a:prstGeom prst="roundRect">
            <a:avLst>
              <a:gd name="adj" fmla="val 579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2" name="Image 1" descr="/home/aigca/ALEXIS/Posters/build/pptx/icons/search_blue.png">    </p:cNvPr>
          <p:cNvPicPr>
            <a:picLocks noChangeAspect="1"/>
          </p:cNvPicPr>
          <p:nvPr/>
        </p:nvPicPr>
        <p:blipFill>
          <a:blip r:embed="rId3"/>
          <a:stretch>
            <a:fillRect/>
          </a:stretch>
        </p:blipFill>
        <p:spPr>
          <a:xfrm>
            <a:off x="6647688" y="3172968"/>
            <a:ext cx="329184" cy="329184"/>
          </a:xfrm>
          <a:prstGeom prst="rect">
            <a:avLst/>
          </a:prstGeom>
        </p:spPr>
      </p:pic>
      <p:sp>
        <p:nvSpPr>
          <p:cNvPr id="13" name="Text 7"/>
          <p:cNvSpPr txBox="1"/>
          <p:nvPr/>
        </p:nvSpPr>
        <p:spPr>
          <a:xfrm>
            <a:off x="7104888" y="3163824"/>
            <a:ext cx="4425696"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Silver · topic-matched</a:t>
            </a:r>
            <a:endParaRPr lang="en-US" sz="1300" dirty="0"/>
          </a:p>
        </p:txBody>
      </p:sp>
      <p:sp>
        <p:nvSpPr>
          <p:cNvPr id="14" name="Text 8"/>
          <p:cNvSpPr txBox="1"/>
          <p:nvPr/>
        </p:nvSpPr>
        <p:spPr>
          <a:xfrm>
            <a:off x="6647688" y="3648456"/>
            <a:ext cx="4882896" cy="585216"/>
          </a:xfrm>
          <a:prstGeom prst="rect">
            <a:avLst/>
          </a:prstGeom>
          <a:noFill/>
          <a:ln/>
        </p:spPr>
        <p:txBody>
          <a:bodyPr wrap="square" lIns="0" tIns="0" rIns="0" bIns="0" rtlCol="0" anchor="t"/>
          <a:lstStyle/>
          <a:p>
            <a:pPr indent="0" marL="0">
              <a:spcAft>
                <a:spcPts val="400"/>
              </a:spcAft>
              <a:buNone/>
            </a:pPr>
            <a:r>
              <a:rPr lang="en-US" sz="1150" dirty="0">
                <a:solidFill>
                  <a:srgbClr val="5A6472"/>
                </a:solidFill>
                <a:latin typeface="Calibri" pitchFamily="34" charset="0"/>
                <a:ea typeface="Calibri" pitchFamily="34" charset="-122"/>
                <a:cs typeface="Calibri" pitchFamily="34" charset="-120"/>
              </a:rPr>
              <a:t>Cross-dialect pairs mined by embedding similarity within a shared banking-intent bucket (MSA, Palestinian, Moroccan, Saudi, Tunisian): same topic, not a verified translation.</a:t>
            </a:r>
            <a:endParaRPr lang="en-US" sz="1150" dirty="0"/>
          </a:p>
        </p:txBody>
      </p:sp>
      <p:sp>
        <p:nvSpPr>
          <p:cNvPr id="15" name="Shape 9"/>
          <p:cNvSpPr/>
          <p:nvPr/>
        </p:nvSpPr>
        <p:spPr>
          <a:xfrm>
            <a:off x="6446520" y="4343400"/>
            <a:ext cx="5285232" cy="1261872"/>
          </a:xfrm>
          <a:prstGeom prst="roundRect">
            <a:avLst>
              <a:gd name="adj" fmla="val 579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6" name="Image 2" descr="/home/aigca/ALEXIS/Posters/build/pptx/icons/repeat_blue.png">    </p:cNvPr>
          <p:cNvPicPr>
            <a:picLocks noChangeAspect="1"/>
          </p:cNvPicPr>
          <p:nvPr/>
        </p:nvPicPr>
        <p:blipFill>
          <a:blip r:embed="rId4"/>
          <a:stretch>
            <a:fillRect/>
          </a:stretch>
        </p:blipFill>
        <p:spPr>
          <a:xfrm>
            <a:off x="6647688" y="4544568"/>
            <a:ext cx="329184" cy="329184"/>
          </a:xfrm>
          <a:prstGeom prst="rect">
            <a:avLst/>
          </a:prstGeom>
        </p:spPr>
      </p:pic>
      <p:sp>
        <p:nvSpPr>
          <p:cNvPr id="17" name="Text 10"/>
          <p:cNvSpPr txBox="1"/>
          <p:nvPr/>
        </p:nvSpPr>
        <p:spPr>
          <a:xfrm>
            <a:off x="7104888" y="4535424"/>
            <a:ext cx="4425696"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Bronze · back-translated</a:t>
            </a:r>
            <a:endParaRPr lang="en-US" sz="1300" dirty="0"/>
          </a:p>
        </p:txBody>
      </p:sp>
      <p:sp>
        <p:nvSpPr>
          <p:cNvPr id="18" name="Text 11"/>
          <p:cNvSpPr txBox="1"/>
          <p:nvPr/>
        </p:nvSpPr>
        <p:spPr>
          <a:xfrm>
            <a:off x="6647688" y="5020056"/>
            <a:ext cx="4882896" cy="585216"/>
          </a:xfrm>
          <a:prstGeom prst="rect">
            <a:avLst/>
          </a:prstGeom>
          <a:noFill/>
          <a:ln/>
        </p:spPr>
        <p:txBody>
          <a:bodyPr wrap="square" lIns="0" tIns="0" rIns="0" bIns="0" rtlCol="0" anchor="t"/>
          <a:lstStyle/>
          <a:p>
            <a:pPr indent="0" marL="0">
              <a:spcAft>
                <a:spcPts val="400"/>
              </a:spcAft>
              <a:buNone/>
            </a:pPr>
            <a:r>
              <a:rPr lang="en-US" sz="1150" dirty="0">
                <a:solidFill>
                  <a:srgbClr val="5A6472"/>
                </a:solidFill>
                <a:latin typeface="Calibri" pitchFamily="34" charset="0"/>
                <a:ea typeface="Calibri" pitchFamily="34" charset="-122"/>
                <a:cs typeface="Calibri" pitchFamily="34" charset="-120"/>
              </a:rPr>
              <a:t>Synthetic Egyptian and Lebanese pairs, back-translated through the model itself and filtered for degenerate output.</a:t>
            </a:r>
            <a:endParaRPr lang="en-US" sz="1150" dirty="0"/>
          </a:p>
        </p:txBody>
      </p:sp>
      <p:sp>
        <p:nvSpPr>
          <p:cNvPr id="19" name="Shape 12"/>
          <p:cNvSpPr/>
          <p:nvPr/>
        </p:nvSpPr>
        <p:spPr>
          <a:xfrm>
            <a:off x="457200" y="5806440"/>
            <a:ext cx="11274552" cy="457200"/>
          </a:xfrm>
          <a:prstGeom prst="roundRect">
            <a:avLst>
              <a:gd name="adj" fmla="val 16000"/>
            </a:avLst>
          </a:prstGeom>
          <a:solidFill>
            <a:srgbClr val="EAF1FF"/>
          </a:solidFill>
          <a:ln w="9525">
            <a:solidFill>
              <a:srgbClr val="C9DAFD"/>
            </a:solidFill>
            <a:prstDash val="solid"/>
          </a:ln>
        </p:spPr>
      </p:sp>
      <p:pic>
        <p:nvPicPr>
          <p:cNvPr id="20" name="Image 3" descr="/home/aigca/ALEXIS/Posters/build/pptx/icons/cpu_blue.png">    </p:cNvPr>
          <p:cNvPicPr>
            <a:picLocks noChangeAspect="1"/>
          </p:cNvPicPr>
          <p:nvPr/>
        </p:nvPicPr>
        <p:blipFill>
          <a:blip r:embed="rId5"/>
          <a:stretch>
            <a:fillRect/>
          </a:stretch>
        </p:blipFill>
        <p:spPr>
          <a:xfrm>
            <a:off x="640080" y="5897880"/>
            <a:ext cx="274320" cy="274320"/>
          </a:xfrm>
          <a:prstGeom prst="rect">
            <a:avLst/>
          </a:prstGeom>
        </p:spPr>
      </p:pic>
      <p:sp>
        <p:nvSpPr>
          <p:cNvPr id="21" name="Text 13"/>
          <p:cNvSpPr txBox="1"/>
          <p:nvPr/>
        </p:nvSpPr>
        <p:spPr>
          <a:xfrm>
            <a:off x="1051560" y="5806440"/>
            <a:ext cx="10497312" cy="45720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Every experiment adapts facebook/nllb-200-distilled-600M: first with LoRA, later with full-parameter fine-tuning.</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body" hasCustomPrompt="1"/>
          </p:nvPr>
        </p:nvSpPr>
        <p:spPr>
          <a:xfrm>
            <a:off x="822960" y="2011680"/>
            <a:ext cx="2926080" cy="1828800"/>
          </a:xfrm>
          <a:prstGeom prst="rect">
            <a:avLst/>
          </a:prstGeom>
          <a:noFill/>
          <a:ln/>
        </p:spPr>
        <p:txBody>
          <a:bodyPr wrap="square" lIns="0" tIns="0" rIns="0" bIns="0" rtlCol="0" anchor="ctr"/>
          <a:lstStyle/>
          <a:p>
            <a:pPr algn="l" indent="0" marL="0">
              <a:buNone/>
            </a:pPr>
            <a:r>
              <a:rPr lang="en-US" sz="12000" b="1" dirty="0">
                <a:solidFill>
                  <a:srgbClr val="1E6BFF"/>
                </a:solidFill>
                <a:latin typeface="Arial" pitchFamily="34" charset="0"/>
                <a:ea typeface="Arial" pitchFamily="34" charset="-122"/>
                <a:cs typeface="Arial" pitchFamily="34" charset="-120"/>
              </a:rPr>
              <a:t>01</a:t>
            </a:r>
            <a:endParaRPr lang="en-US" sz="12000" dirty="0"/>
          </a:p>
        </p:txBody>
      </p:sp>
      <p:sp>
        <p:nvSpPr>
          <p:cNvPr id="3" name="Text 1"/>
          <p:cNvSpPr/>
          <p:nvPr>
            <p:ph idx="104" type="title" hasCustomPrompt="1"/>
          </p:nvPr>
        </p:nvSpPr>
        <p:spPr>
          <a:xfrm>
            <a:off x="4754880" y="2468880"/>
            <a:ext cx="694944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Where the Gains Came From</a:t>
            </a:r>
            <a:endParaRPr lang="en-US" sz="3600" dirty="0"/>
          </a:p>
        </p:txBody>
      </p:sp>
      <p:sp>
        <p:nvSpPr>
          <p:cNvPr id="4" name="Text 1"/>
          <p:cNvSpPr/>
          <p:nvPr>
            <p:ph idx="105" type="body" hasCustomPrompt="1"/>
          </p:nvPr>
        </p:nvSpPr>
        <p:spPr>
          <a:xfrm>
            <a:off x="4773168" y="3310128"/>
            <a:ext cx="6858000" cy="548640"/>
          </a:xfrm>
          <a:prstGeom prst="rect">
            <a:avLst/>
          </a:prstGeom>
          <a:noFill/>
          <a:ln/>
        </p:spPr>
        <p:txBody>
          <a:bodyPr wrap="square" lIns="0" tIns="0" rIns="0" bIns="0" rtlCol="0" anchor="t"/>
          <a:lstStyle/>
          <a:p>
            <a:pPr algn="l" indent="0" marL="0">
              <a:buNone/>
            </a:pPr>
            <a:r>
              <a:rPr lang="en-US" sz="1600" dirty="0">
                <a:solidFill>
                  <a:srgbClr val="9FB3D0"/>
                </a:solidFill>
                <a:latin typeface="Calibri" pitchFamily="34" charset="0"/>
                <a:ea typeface="Calibri" pitchFamily="34" charset="-122"/>
                <a:cs typeface="Calibri" pitchFamily="34" charset="-120"/>
              </a:rPr>
              <a:t>Four phases, every configuration scored on the real leaderboard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THE REAL LEADERBOARD</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Every configuration scored on Codabench</a:t>
            </a:r>
            <a:endParaRPr lang="en-US" sz="2800" dirty="0"/>
          </a:p>
        </p:txBody>
      </p:sp>
      <p:sp>
        <p:nvSpPr>
          <p:cNvPr id="5" name="Shape 2"/>
          <p:cNvSpPr/>
          <p:nvPr/>
        </p:nvSpPr>
        <p:spPr>
          <a:xfrm>
            <a:off x="457200" y="1554480"/>
            <a:ext cx="11274552" cy="4160520"/>
          </a:xfrm>
          <a:prstGeom prst="roundRect">
            <a:avLst>
              <a:gd name="adj" fmla="val 1758"/>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graphicFrame>
        <p:nvGraphicFramePr>
          <p:cNvPr id="6" name="Chart 0" descr=""/>
          <p:cNvGraphicFramePr/>
          <p:nvPr/>
        </p:nvGraphicFramePr>
        <p:xfrm>
          <a:off x="594360" y="1645920"/>
          <a:ext cx="10972800" cy="39776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457200" y="5806440"/>
            <a:ext cx="11247120" cy="502920"/>
          </a:xfrm>
          <a:prstGeom prst="rect">
            <a:avLst/>
          </a:prstGeom>
          <a:noFill/>
          <a:ln/>
        </p:spPr>
        <p:txBody>
          <a:bodyPr wrap="square" lIns="0" tIns="0" rIns="0" bIns="0" rtlCol="0" anchor="t"/>
          <a:lstStyle/>
          <a:p>
            <a:pPr indent="0" marL="0">
              <a:buNone/>
            </a:pPr>
            <a:r>
              <a:rPr lang="en-US" sz="1150" dirty="0">
                <a:solidFill>
                  <a:srgbClr val="8A93A0"/>
                </a:solidFill>
                <a:latin typeface="Calibri" pitchFamily="34" charset="0"/>
                <a:ea typeface="Calibri" pitchFamily="34" charset="-122"/>
                <a:cs typeface="Calibri" pitchFamily="34" charset="-120"/>
              </a:rPr>
              <a:t>Official result 25.840 (chrF++ 39.019): 2.56 spBLEU behind 1st and 1.31 ahead of 3rd. Best post-evaluation checkpoint 28.042 (chrF++ 40.774) closes the gap to 1st to 0.36. Points are the exact milestones of the 24 real submissions (paper, Table 4).</a:t>
            </a:r>
            <a:endParaRPr lang="en-US" sz="11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FOUR PHASES</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Change the variable when returns flatten</a:t>
            </a:r>
            <a:endParaRPr lang="en-US" sz="2800" dirty="0"/>
          </a:p>
        </p:txBody>
      </p:sp>
      <p:sp>
        <p:nvSpPr>
          <p:cNvPr id="5" name="Shape 2"/>
          <p:cNvSpPr/>
          <p:nvPr/>
        </p:nvSpPr>
        <p:spPr>
          <a:xfrm>
            <a:off x="457200" y="1645920"/>
            <a:ext cx="2651760" cy="4206240"/>
          </a:xfrm>
          <a:prstGeom prst="roundRect">
            <a:avLst>
              <a:gd name="adj" fmla="val 275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6" name="Text 3"/>
          <p:cNvSpPr txBox="1"/>
          <p:nvPr/>
        </p:nvSpPr>
        <p:spPr>
          <a:xfrm>
            <a:off x="658368" y="1828800"/>
            <a:ext cx="822960" cy="502920"/>
          </a:xfrm>
          <a:prstGeom prst="rect">
            <a:avLst/>
          </a:prstGeom>
          <a:noFill/>
          <a:ln/>
        </p:spPr>
        <p:txBody>
          <a:bodyPr wrap="square" lIns="0" tIns="0" rIns="0" bIns="0" rtlCol="0" anchor="ctr"/>
          <a:lstStyle/>
          <a:p>
            <a:pPr indent="0" marL="0">
              <a:buNone/>
            </a:pPr>
            <a:r>
              <a:rPr lang="en-US" sz="2400" b="1" dirty="0">
                <a:solidFill>
                  <a:srgbClr val="1E6BFF"/>
                </a:solidFill>
                <a:latin typeface="Arial" pitchFamily="34" charset="0"/>
                <a:ea typeface="Arial" pitchFamily="34" charset="-122"/>
                <a:cs typeface="Arial" pitchFamily="34" charset="-120"/>
              </a:rPr>
              <a:t>P1</a:t>
            </a:r>
            <a:endParaRPr lang="en-US" sz="2400" dirty="0"/>
          </a:p>
        </p:txBody>
      </p:sp>
      <p:sp>
        <p:nvSpPr>
          <p:cNvPr id="7" name="Text 4"/>
          <p:cNvSpPr txBox="1"/>
          <p:nvPr/>
        </p:nvSpPr>
        <p:spPr>
          <a:xfrm>
            <a:off x="658368" y="2395728"/>
            <a:ext cx="2286000" cy="59436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Data-recipe tuning (LoRA)</a:t>
            </a:r>
            <a:endParaRPr lang="en-US" sz="1400" dirty="0"/>
          </a:p>
        </p:txBody>
      </p:sp>
      <p:sp>
        <p:nvSpPr>
          <p:cNvPr id="8" name="Text 5"/>
          <p:cNvSpPr txBox="1"/>
          <p:nvPr/>
        </p:nvSpPr>
        <p:spPr>
          <a:xfrm>
            <a:off x="658368" y="3017520"/>
            <a:ext cx="2286000" cy="411480"/>
          </a:xfrm>
          <a:prstGeom prst="rect">
            <a:avLst/>
          </a:prstGeom>
          <a:noFill/>
          <a:ln/>
        </p:spPr>
        <p:txBody>
          <a:bodyPr wrap="square" lIns="0" tIns="0" rIns="0" bIns="0" rtlCol="0" anchor="ctr"/>
          <a:lstStyle/>
          <a:p>
            <a:pPr indent="0" marL="0">
              <a:buNone/>
            </a:pPr>
            <a:r>
              <a:rPr lang="en-US" sz="1700" b="1" dirty="0">
                <a:solidFill>
                  <a:srgbClr val="B57400"/>
                </a:solidFill>
                <a:latin typeface="Arial" pitchFamily="34" charset="0"/>
                <a:ea typeface="Arial" pitchFamily="34" charset="-122"/>
                <a:cs typeface="Arial" pitchFamily="34" charset="-120"/>
              </a:rPr>
              <a:t>+3.8 → +2.7 → +1.8%</a:t>
            </a:r>
            <a:endParaRPr lang="en-US" sz="1700" dirty="0"/>
          </a:p>
        </p:txBody>
      </p:sp>
      <p:sp>
        <p:nvSpPr>
          <p:cNvPr id="9" name="Text 6"/>
          <p:cNvSpPr txBox="1"/>
          <p:nvPr/>
        </p:nvSpPr>
        <p:spPr>
          <a:xfrm>
            <a:off x="658368" y="3566160"/>
            <a:ext cx="2286000" cy="2194560"/>
          </a:xfrm>
          <a:prstGeom prst="rect">
            <a:avLst/>
          </a:prstGeom>
          <a:noFill/>
          <a:ln/>
        </p:spPr>
        <p:txBody>
          <a:bodyPr wrap="square" lIns="0" tIns="0" rIns="0" bIns="0" rtlCol="0" anchor="t"/>
          <a:lstStyle/>
          <a:p>
            <a:pPr indent="0" marL="0">
              <a:buNone/>
            </a:pPr>
            <a:r>
              <a:rPr lang="en-US" sz="1250" dirty="0">
                <a:solidFill>
                  <a:srgbClr val="5A6472"/>
                </a:solidFill>
                <a:latin typeface="Calibri" pitchFamily="34" charset="0"/>
                <a:ea typeface="Calibri" pitchFamily="34" charset="-122"/>
                <a:cs typeface="Calibri" pitchFamily="34" charset="-120"/>
              </a:rPr>
              <a:t>Widen silver/bronze caps, grow gold 2,500 → 16,000, fix the Tunisian artifact. Every round helped, each less than the one before.</a:t>
            </a:r>
            <a:endParaRPr lang="en-US" sz="1250" dirty="0"/>
          </a:p>
        </p:txBody>
      </p:sp>
      <p:pic>
        <p:nvPicPr>
          <p:cNvPr id="10" name="Image 0" descr="/home/aigca/ALEXIS/Posters/build/pptx/media/chevron.png">    </p:cNvPr>
          <p:cNvPicPr>
            <a:picLocks noChangeAspect="1"/>
          </p:cNvPicPr>
          <p:nvPr/>
        </p:nvPicPr>
        <p:blipFill>
          <a:blip r:embed="rId1"/>
          <a:stretch>
            <a:fillRect/>
          </a:stretch>
        </p:blipFill>
        <p:spPr>
          <a:xfrm>
            <a:off x="3136392" y="3611880"/>
            <a:ext cx="164592" cy="164592"/>
          </a:xfrm>
          <a:prstGeom prst="rect">
            <a:avLst/>
          </a:prstGeom>
        </p:spPr>
      </p:pic>
      <p:sp>
        <p:nvSpPr>
          <p:cNvPr id="11" name="Shape 7"/>
          <p:cNvSpPr/>
          <p:nvPr/>
        </p:nvSpPr>
        <p:spPr>
          <a:xfrm>
            <a:off x="3319272" y="1645920"/>
            <a:ext cx="2651760" cy="4206240"/>
          </a:xfrm>
          <a:prstGeom prst="roundRect">
            <a:avLst>
              <a:gd name="adj" fmla="val 2759"/>
            </a:avLst>
          </a:prstGeom>
          <a:solidFill>
            <a:srgbClr val="FFF4E6"/>
          </a:solidFill>
          <a:ln w="9525">
            <a:solidFill>
              <a:srgbClr val="E8A020"/>
            </a:solidFill>
            <a:prstDash val="solid"/>
          </a:ln>
          <a:effectLst>
            <a:outerShdw sx="100000" sy="100000" kx="0" ky="0" algn="bl" rotWithShape="0" blurRad="101600" dist="25400" dir="5400000">
              <a:srgbClr val="0D1B3A">
                <a:alpha val="10000"/>
              </a:srgbClr>
            </a:outerShdw>
          </a:effectLst>
        </p:spPr>
      </p:sp>
      <p:sp>
        <p:nvSpPr>
          <p:cNvPr id="12" name="Text 8"/>
          <p:cNvSpPr txBox="1"/>
          <p:nvPr/>
        </p:nvSpPr>
        <p:spPr>
          <a:xfrm>
            <a:off x="3520440" y="1828800"/>
            <a:ext cx="822960" cy="502920"/>
          </a:xfrm>
          <a:prstGeom prst="rect">
            <a:avLst/>
          </a:prstGeom>
          <a:noFill/>
          <a:ln/>
        </p:spPr>
        <p:txBody>
          <a:bodyPr wrap="square" lIns="0" tIns="0" rIns="0" bIns="0" rtlCol="0" anchor="ctr"/>
          <a:lstStyle/>
          <a:p>
            <a:pPr indent="0" marL="0">
              <a:buNone/>
            </a:pPr>
            <a:r>
              <a:rPr lang="en-US" sz="2400" b="1" dirty="0">
                <a:solidFill>
                  <a:srgbClr val="B57400"/>
                </a:solidFill>
                <a:latin typeface="Arial" pitchFamily="34" charset="0"/>
                <a:ea typeface="Arial" pitchFamily="34" charset="-122"/>
                <a:cs typeface="Arial" pitchFamily="34" charset="-120"/>
              </a:rPr>
              <a:t>P2</a:t>
            </a:r>
            <a:endParaRPr lang="en-US" sz="2400" dirty="0"/>
          </a:p>
        </p:txBody>
      </p:sp>
      <p:sp>
        <p:nvSpPr>
          <p:cNvPr id="13" name="Text 9"/>
          <p:cNvSpPr txBox="1"/>
          <p:nvPr/>
        </p:nvSpPr>
        <p:spPr>
          <a:xfrm>
            <a:off x="3520440" y="2395728"/>
            <a:ext cx="2286000" cy="59436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Capacity discovery</a:t>
            </a:r>
            <a:endParaRPr lang="en-US" sz="1400" dirty="0"/>
          </a:p>
        </p:txBody>
      </p:sp>
      <p:sp>
        <p:nvSpPr>
          <p:cNvPr id="14" name="Text 10"/>
          <p:cNvSpPr txBox="1"/>
          <p:nvPr/>
        </p:nvSpPr>
        <p:spPr>
          <a:xfrm>
            <a:off x="3520440" y="3017520"/>
            <a:ext cx="2286000" cy="411480"/>
          </a:xfrm>
          <a:prstGeom prst="rect">
            <a:avLst/>
          </a:prstGeom>
          <a:noFill/>
          <a:ln/>
        </p:spPr>
        <p:txBody>
          <a:bodyPr wrap="square" lIns="0" tIns="0" rIns="0" bIns="0" rtlCol="0" anchor="ctr"/>
          <a:lstStyle/>
          <a:p>
            <a:pPr indent="0" marL="0">
              <a:buNone/>
            </a:pPr>
            <a:r>
              <a:rPr lang="en-US" sz="1700" b="1" dirty="0">
                <a:solidFill>
                  <a:srgbClr val="B57400"/>
                </a:solidFill>
                <a:latin typeface="Arial" pitchFamily="34" charset="0"/>
                <a:ea typeface="Arial" pitchFamily="34" charset="-122"/>
                <a:cs typeface="Arial" pitchFamily="34" charset="-120"/>
              </a:rPr>
              <a:t>+8.9%</a:t>
            </a:r>
            <a:endParaRPr lang="en-US" sz="1700" dirty="0"/>
          </a:p>
        </p:txBody>
      </p:sp>
      <p:sp>
        <p:nvSpPr>
          <p:cNvPr id="15" name="Text 11"/>
          <p:cNvSpPr txBox="1"/>
          <p:nvPr/>
        </p:nvSpPr>
        <p:spPr>
          <a:xfrm>
            <a:off x="3520440" y="3566160"/>
            <a:ext cx="2286000" cy="2194560"/>
          </a:xfrm>
          <a:prstGeom prst="rect">
            <a:avLst/>
          </a:prstGeom>
          <a:noFill/>
          <a:ln/>
        </p:spPr>
        <p:txBody>
          <a:bodyPr wrap="square" lIns="0" tIns="0" rIns="0" bIns="0" rtlCol="0" anchor="t"/>
          <a:lstStyle/>
          <a:p>
            <a:pPr indent="0" marL="0">
              <a:buNone/>
            </a:pPr>
            <a:r>
              <a:rPr lang="en-US" sz="1250" dirty="0">
                <a:solidFill>
                  <a:srgbClr val="5A6472"/>
                </a:solidFill>
                <a:latin typeface="Calibri" pitchFamily="34" charset="0"/>
                <a:ea typeface="Calibri" pitchFamily="34" charset="-122"/>
                <a:cs typeface="Calibri" pitchFamily="34" charset="-120"/>
              </a:rPr>
              <a:t>Data held fixed; LoRA rank 32 → 64 and epoch budget 5 → 8 raised together. Not ablated separately: it shows the data recipe had plateaued, not capacity alone.</a:t>
            </a:r>
            <a:endParaRPr lang="en-US" sz="1250" dirty="0"/>
          </a:p>
        </p:txBody>
      </p:sp>
      <p:pic>
        <p:nvPicPr>
          <p:cNvPr id="16" name="Image 1" descr="/home/aigca/ALEXIS/Posters/build/pptx/media/chevron.png">    </p:cNvPr>
          <p:cNvPicPr>
            <a:picLocks noChangeAspect="1"/>
          </p:cNvPicPr>
          <p:nvPr/>
        </p:nvPicPr>
        <p:blipFill>
          <a:blip r:embed="rId2"/>
          <a:stretch>
            <a:fillRect/>
          </a:stretch>
        </p:blipFill>
        <p:spPr>
          <a:xfrm>
            <a:off x="5998464" y="3611880"/>
            <a:ext cx="164592" cy="164592"/>
          </a:xfrm>
          <a:prstGeom prst="rect">
            <a:avLst/>
          </a:prstGeom>
        </p:spPr>
      </p:pic>
      <p:sp>
        <p:nvSpPr>
          <p:cNvPr id="17" name="Shape 12"/>
          <p:cNvSpPr/>
          <p:nvPr/>
        </p:nvSpPr>
        <p:spPr>
          <a:xfrm>
            <a:off x="6181344" y="1645920"/>
            <a:ext cx="2651760" cy="4206240"/>
          </a:xfrm>
          <a:prstGeom prst="roundRect">
            <a:avLst>
              <a:gd name="adj" fmla="val 275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8" name="Text 13"/>
          <p:cNvSpPr txBox="1"/>
          <p:nvPr/>
        </p:nvSpPr>
        <p:spPr>
          <a:xfrm>
            <a:off x="6382512" y="1828800"/>
            <a:ext cx="822960" cy="502920"/>
          </a:xfrm>
          <a:prstGeom prst="rect">
            <a:avLst/>
          </a:prstGeom>
          <a:noFill/>
          <a:ln/>
        </p:spPr>
        <p:txBody>
          <a:bodyPr wrap="square" lIns="0" tIns="0" rIns="0" bIns="0" rtlCol="0" anchor="ctr"/>
          <a:lstStyle/>
          <a:p>
            <a:pPr indent="0" marL="0">
              <a:buNone/>
            </a:pPr>
            <a:r>
              <a:rPr lang="en-US" sz="2400" b="1" dirty="0">
                <a:solidFill>
                  <a:srgbClr val="1E6BFF"/>
                </a:solidFill>
                <a:latin typeface="Arial" pitchFamily="34" charset="0"/>
                <a:ea typeface="Arial" pitchFamily="34" charset="-122"/>
                <a:cs typeface="Arial" pitchFamily="34" charset="-120"/>
              </a:rPr>
              <a:t>P3</a:t>
            </a:r>
            <a:endParaRPr lang="en-US" sz="2400" dirty="0"/>
          </a:p>
        </p:txBody>
      </p:sp>
      <p:sp>
        <p:nvSpPr>
          <p:cNvPr id="19" name="Text 14"/>
          <p:cNvSpPr txBox="1"/>
          <p:nvPr/>
        </p:nvSpPr>
        <p:spPr>
          <a:xfrm>
            <a:off x="6382512" y="2395728"/>
            <a:ext cx="2286000" cy="59436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Full fine-tuning</a:t>
            </a:r>
            <a:endParaRPr lang="en-US" sz="1400" dirty="0"/>
          </a:p>
        </p:txBody>
      </p:sp>
      <p:sp>
        <p:nvSpPr>
          <p:cNvPr id="20" name="Text 15"/>
          <p:cNvSpPr txBox="1"/>
          <p:nvPr/>
        </p:nvSpPr>
        <p:spPr>
          <a:xfrm>
            <a:off x="6382512" y="3017520"/>
            <a:ext cx="2286000" cy="411480"/>
          </a:xfrm>
          <a:prstGeom prst="rect">
            <a:avLst/>
          </a:prstGeom>
          <a:noFill/>
          <a:ln/>
        </p:spPr>
        <p:txBody>
          <a:bodyPr wrap="square" lIns="0" tIns="0" rIns="0" bIns="0" rtlCol="0" anchor="ctr"/>
          <a:lstStyle/>
          <a:p>
            <a:pPr indent="0" marL="0">
              <a:buNone/>
            </a:pPr>
            <a:r>
              <a:rPr lang="en-US" sz="1700" b="1" dirty="0">
                <a:solidFill>
                  <a:srgbClr val="B57400"/>
                </a:solidFill>
                <a:latin typeface="Arial" pitchFamily="34" charset="0"/>
                <a:ea typeface="Arial" pitchFamily="34" charset="-122"/>
                <a:cs typeface="Arial" pitchFamily="34" charset="-120"/>
              </a:rPr>
              <a:t>trap found</a:t>
            </a:r>
            <a:endParaRPr lang="en-US" sz="1700" dirty="0"/>
          </a:p>
        </p:txBody>
      </p:sp>
      <p:sp>
        <p:nvSpPr>
          <p:cNvPr id="21" name="Text 16"/>
          <p:cNvSpPr txBox="1"/>
          <p:nvPr/>
        </p:nvSpPr>
        <p:spPr>
          <a:xfrm>
            <a:off x="6382512" y="3566160"/>
            <a:ext cx="2286000" cy="2194560"/>
          </a:xfrm>
          <a:prstGeom prst="rect">
            <a:avLst/>
          </a:prstGeom>
          <a:noFill/>
          <a:ln/>
        </p:spPr>
        <p:txBody>
          <a:bodyPr wrap="square" lIns="0" tIns="0" rIns="0" bIns="0" rtlCol="0" anchor="t"/>
          <a:lstStyle/>
          <a:p>
            <a:pPr indent="0" marL="0">
              <a:buNone/>
            </a:pPr>
            <a:r>
              <a:rPr lang="en-US" sz="1250" dirty="0">
                <a:solidFill>
                  <a:srgbClr val="5A6472"/>
                </a:solidFill>
                <a:latin typeface="Calibri" pitchFamily="34" charset="0"/>
                <a:ea typeface="Calibri" pitchFamily="34" charset="-122"/>
                <a:cs typeface="Calibri" pitchFamily="34" charset="-120"/>
              </a:rPr>
              <a:t>Merge the best adapter, train all weights. Self-distilled bronze scored better offline and worse on the leaderboard: no dev set covers Egyptian or Lebanese.</a:t>
            </a:r>
            <a:endParaRPr lang="en-US" sz="1250" dirty="0"/>
          </a:p>
        </p:txBody>
      </p:sp>
      <p:pic>
        <p:nvPicPr>
          <p:cNvPr id="22" name="Image 2" descr="/home/aigca/ALEXIS/Posters/build/pptx/media/chevron.png">    </p:cNvPr>
          <p:cNvPicPr>
            <a:picLocks noChangeAspect="1"/>
          </p:cNvPicPr>
          <p:nvPr/>
        </p:nvPicPr>
        <p:blipFill>
          <a:blip r:embed="rId3"/>
          <a:stretch>
            <a:fillRect/>
          </a:stretch>
        </p:blipFill>
        <p:spPr>
          <a:xfrm>
            <a:off x="8860536" y="3611880"/>
            <a:ext cx="164592" cy="164592"/>
          </a:xfrm>
          <a:prstGeom prst="rect">
            <a:avLst/>
          </a:prstGeom>
        </p:spPr>
      </p:pic>
      <p:sp>
        <p:nvSpPr>
          <p:cNvPr id="23" name="Shape 17"/>
          <p:cNvSpPr/>
          <p:nvPr/>
        </p:nvSpPr>
        <p:spPr>
          <a:xfrm>
            <a:off x="9043416" y="1645920"/>
            <a:ext cx="2651760" cy="4206240"/>
          </a:xfrm>
          <a:prstGeom prst="roundRect">
            <a:avLst>
              <a:gd name="adj" fmla="val 275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24" name="Text 18"/>
          <p:cNvSpPr txBox="1"/>
          <p:nvPr/>
        </p:nvSpPr>
        <p:spPr>
          <a:xfrm>
            <a:off x="9244584" y="1828800"/>
            <a:ext cx="822960" cy="502920"/>
          </a:xfrm>
          <a:prstGeom prst="rect">
            <a:avLst/>
          </a:prstGeom>
          <a:noFill/>
          <a:ln/>
        </p:spPr>
        <p:txBody>
          <a:bodyPr wrap="square" lIns="0" tIns="0" rIns="0" bIns="0" rtlCol="0" anchor="ctr"/>
          <a:lstStyle/>
          <a:p>
            <a:pPr indent="0" marL="0">
              <a:buNone/>
            </a:pPr>
            <a:r>
              <a:rPr lang="en-US" sz="2400" b="1" dirty="0">
                <a:solidFill>
                  <a:srgbClr val="1E6BFF"/>
                </a:solidFill>
                <a:latin typeface="Arial" pitchFamily="34" charset="0"/>
                <a:ea typeface="Arial" pitchFamily="34" charset="-122"/>
                <a:cs typeface="Arial" pitchFamily="34" charset="-120"/>
              </a:rPr>
              <a:t>P4</a:t>
            </a:r>
            <a:endParaRPr lang="en-US" sz="2400" dirty="0"/>
          </a:p>
        </p:txBody>
      </p:sp>
      <p:sp>
        <p:nvSpPr>
          <p:cNvPr id="25" name="Text 19"/>
          <p:cNvSpPr txBox="1"/>
          <p:nvPr/>
        </p:nvSpPr>
        <p:spPr>
          <a:xfrm>
            <a:off x="9244584" y="2395728"/>
            <a:ext cx="2286000" cy="59436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Training duration as a lever</a:t>
            </a:r>
            <a:endParaRPr lang="en-US" sz="1400" dirty="0"/>
          </a:p>
        </p:txBody>
      </p:sp>
      <p:sp>
        <p:nvSpPr>
          <p:cNvPr id="26" name="Text 20"/>
          <p:cNvSpPr txBox="1"/>
          <p:nvPr/>
        </p:nvSpPr>
        <p:spPr>
          <a:xfrm>
            <a:off x="9244584" y="3017520"/>
            <a:ext cx="2286000" cy="411480"/>
          </a:xfrm>
          <a:prstGeom prst="rect">
            <a:avLst/>
          </a:prstGeom>
          <a:noFill/>
          <a:ln/>
        </p:spPr>
        <p:txBody>
          <a:bodyPr wrap="square" lIns="0" tIns="0" rIns="0" bIns="0" rtlCol="0" anchor="ctr"/>
          <a:lstStyle/>
          <a:p>
            <a:pPr indent="0" marL="0">
              <a:buNone/>
            </a:pPr>
            <a:r>
              <a:rPr lang="en-US" sz="1700" b="1" dirty="0">
                <a:solidFill>
                  <a:srgbClr val="B57400"/>
                </a:solidFill>
                <a:latin typeface="Arial" pitchFamily="34" charset="0"/>
                <a:ea typeface="Arial" pitchFamily="34" charset="-122"/>
                <a:cs typeface="Arial" pitchFamily="34" charset="-120"/>
              </a:rPr>
              <a:t>+0.71 spBLEU</a:t>
            </a:r>
            <a:endParaRPr lang="en-US" sz="1700" dirty="0"/>
          </a:p>
        </p:txBody>
      </p:sp>
      <p:sp>
        <p:nvSpPr>
          <p:cNvPr id="27" name="Text 21"/>
          <p:cNvSpPr txBox="1"/>
          <p:nvPr/>
        </p:nvSpPr>
        <p:spPr>
          <a:xfrm>
            <a:off x="9244584" y="3566160"/>
            <a:ext cx="2286000" cy="2194560"/>
          </a:xfrm>
          <a:prstGeom prst="rect">
            <a:avLst/>
          </a:prstGeom>
          <a:noFill/>
          <a:ln/>
        </p:spPr>
        <p:txBody>
          <a:bodyPr wrap="square" lIns="0" tIns="0" rIns="0" bIns="0" rtlCol="0" anchor="t"/>
          <a:lstStyle/>
          <a:p>
            <a:pPr indent="0" marL="0">
              <a:buNone/>
            </a:pPr>
            <a:r>
              <a:rPr lang="en-US" sz="1250" dirty="0">
                <a:solidFill>
                  <a:srgbClr val="5A6472"/>
                </a:solidFill>
                <a:latin typeface="Calibri" pitchFamily="34" charset="0"/>
                <a:ea typeface="Calibri" pitchFamily="34" charset="-122"/>
                <a:cs typeface="Calibri" pitchFamily="34" charset="-120"/>
              </a:rPr>
              <a:t>Validation loss was still falling when budgets expired: two extra epochs gave +0.71; open-ended rounds of up to 10 epochs gave the largest cumulative gain.</a:t>
            </a:r>
            <a:endParaRPr lang="en-US" sz="1250" dirty="0"/>
          </a:p>
        </p:txBody>
      </p:sp>
      <p:sp>
        <p:nvSpPr>
          <p:cNvPr id="28" name="Shape 22"/>
          <p:cNvSpPr/>
          <p:nvPr/>
        </p:nvSpPr>
        <p:spPr>
          <a:xfrm>
            <a:off x="457200" y="5943600"/>
            <a:ext cx="11274552" cy="384048"/>
          </a:xfrm>
          <a:prstGeom prst="roundRect">
            <a:avLst>
              <a:gd name="adj" fmla="val 19048"/>
            </a:avLst>
          </a:prstGeom>
          <a:solidFill>
            <a:srgbClr val="EAF1FF"/>
          </a:solidFill>
          <a:ln w="9525">
            <a:solidFill>
              <a:srgbClr val="C9DAFD"/>
            </a:solidFill>
            <a:prstDash val="solid"/>
          </a:ln>
        </p:spPr>
      </p:sp>
      <p:pic>
        <p:nvPicPr>
          <p:cNvPr id="29" name="Image 3" descr="/home/aigca/ALEXIS/Posters/build/pptx/icons/trend_blue.png">    </p:cNvPr>
          <p:cNvPicPr>
            <a:picLocks noChangeAspect="1"/>
          </p:cNvPicPr>
          <p:nvPr/>
        </p:nvPicPr>
        <p:blipFill>
          <a:blip r:embed="rId4"/>
          <a:stretch>
            <a:fillRect/>
          </a:stretch>
        </p:blipFill>
        <p:spPr>
          <a:xfrm>
            <a:off x="640080" y="5998464"/>
            <a:ext cx="274320" cy="274320"/>
          </a:xfrm>
          <a:prstGeom prst="rect">
            <a:avLst/>
          </a:prstGeom>
        </p:spPr>
      </p:pic>
      <p:sp>
        <p:nvSpPr>
          <p:cNvPr id="30" name="Text 23"/>
          <p:cNvSpPr txBox="1"/>
          <p:nvPr/>
        </p:nvSpPr>
        <p:spPr>
          <a:xfrm>
            <a:off x="1051560" y="5943600"/>
            <a:ext cx="10497312" cy="384048"/>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Each phase began because the previous one had stopped paying off.</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3" type="body" hasCustomPrompt="1"/>
          </p:nvPr>
        </p:nvSpPr>
        <p:spPr>
          <a:xfrm>
            <a:off x="822960" y="2011680"/>
            <a:ext cx="2926080" cy="1828800"/>
          </a:xfrm>
          <a:prstGeom prst="rect">
            <a:avLst/>
          </a:prstGeom>
          <a:noFill/>
          <a:ln/>
        </p:spPr>
        <p:txBody>
          <a:bodyPr wrap="square" lIns="0" tIns="0" rIns="0" bIns="0" rtlCol="0" anchor="ctr"/>
          <a:lstStyle/>
          <a:p>
            <a:pPr algn="l" indent="0" marL="0">
              <a:buNone/>
            </a:pPr>
            <a:r>
              <a:rPr lang="en-US" sz="12000" b="1" dirty="0">
                <a:solidFill>
                  <a:srgbClr val="1E6BFF"/>
                </a:solidFill>
                <a:latin typeface="Arial" pitchFamily="34" charset="0"/>
                <a:ea typeface="Arial" pitchFamily="34" charset="-122"/>
                <a:cs typeface="Arial" pitchFamily="34" charset="-120"/>
              </a:rPr>
              <a:t>02</a:t>
            </a:r>
            <a:endParaRPr lang="en-US" sz="12000" dirty="0"/>
          </a:p>
        </p:txBody>
      </p:sp>
      <p:sp>
        <p:nvSpPr>
          <p:cNvPr id="3" name="Text 1"/>
          <p:cNvSpPr/>
          <p:nvPr>
            <p:ph idx="104" type="title" hasCustomPrompt="1"/>
          </p:nvPr>
        </p:nvSpPr>
        <p:spPr>
          <a:xfrm>
            <a:off x="4754880" y="2468880"/>
            <a:ext cx="694944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Preference Optimization</a:t>
            </a:r>
            <a:endParaRPr lang="en-US" sz="3600" dirty="0"/>
          </a:p>
        </p:txBody>
      </p:sp>
      <p:sp>
        <p:nvSpPr>
          <p:cNvPr id="4" name="Text 1"/>
          <p:cNvSpPr/>
          <p:nvPr>
            <p:ph idx="105" type="body" hasCustomPrompt="1"/>
          </p:nvPr>
        </p:nvSpPr>
        <p:spPr>
          <a:xfrm>
            <a:off x="4773168" y="3310128"/>
            <a:ext cx="6858000" cy="548640"/>
          </a:xfrm>
          <a:prstGeom prst="rect">
            <a:avLst/>
          </a:prstGeom>
          <a:noFill/>
          <a:ln/>
        </p:spPr>
        <p:txBody>
          <a:bodyPr wrap="square" lIns="0" tIns="0" rIns="0" bIns="0" rtlCol="0" anchor="t"/>
          <a:lstStyle/>
          <a:p>
            <a:pPr algn="l" indent="0" marL="0">
              <a:buNone/>
            </a:pPr>
            <a:r>
              <a:rPr lang="en-US" sz="1600" dirty="0">
                <a:solidFill>
                  <a:srgbClr val="9FB3D0"/>
                </a:solidFill>
                <a:latin typeface="Calibri" pitchFamily="34" charset="0"/>
                <a:ea typeface="Calibri" pitchFamily="34" charset="-122"/>
                <a:cs typeface="Calibri" pitchFamily="34" charset="-120"/>
              </a:rPr>
              <a:t>Reward design decides whether DPO helps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DPO ABLATION</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Same recipe, three reward designs</a:t>
            </a:r>
            <a:endParaRPr lang="en-US" sz="2800" dirty="0"/>
          </a:p>
        </p:txBody>
      </p:sp>
      <p:sp>
        <p:nvSpPr>
          <p:cNvPr id="5" name="Shape 2"/>
          <p:cNvSpPr/>
          <p:nvPr/>
        </p:nvSpPr>
        <p:spPr>
          <a:xfrm>
            <a:off x="457200" y="1554480"/>
            <a:ext cx="11274552" cy="685800"/>
          </a:xfrm>
          <a:prstGeom prst="roundRect">
            <a:avLst>
              <a:gd name="adj" fmla="val 10667"/>
            </a:avLst>
          </a:prstGeom>
          <a:solidFill>
            <a:srgbClr val="EAF1FF"/>
          </a:solidFill>
          <a:ln w="9525">
            <a:solidFill>
              <a:srgbClr val="C9DAFD"/>
            </a:solidFill>
            <a:prstDash val="solid"/>
          </a:ln>
        </p:spPr>
      </p:sp>
      <p:pic>
        <p:nvPicPr>
          <p:cNvPr id="6" name="Image 0" descr="/home/aigca/ALEXIS/Posters/build/pptx/icons/list_blue.png">    </p:cNvPr>
          <p:cNvPicPr>
            <a:picLocks noChangeAspect="1"/>
          </p:cNvPicPr>
          <p:nvPr/>
        </p:nvPicPr>
        <p:blipFill>
          <a:blip r:embed="rId1"/>
          <a:stretch>
            <a:fillRect/>
          </a:stretch>
        </p:blipFill>
        <p:spPr>
          <a:xfrm>
            <a:off x="640080" y="1760220"/>
            <a:ext cx="274320" cy="274320"/>
          </a:xfrm>
          <a:prstGeom prst="rect">
            <a:avLst/>
          </a:prstGeom>
        </p:spPr>
      </p:pic>
      <p:sp>
        <p:nvSpPr>
          <p:cNvPr id="7" name="Text 3"/>
          <p:cNvSpPr txBox="1"/>
          <p:nvPr/>
        </p:nvSpPr>
        <p:spPr>
          <a:xfrm>
            <a:off x="1051560" y="1554480"/>
            <a:ext cx="10497312" cy="68580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Shared protocol: sample K = 4 candidates, add the training reference, score all, pair the best and worst as chosen / rejected. A and B start from the same Phase-4 checkpoint; C continues from B.</a:t>
            </a:r>
            <a:endParaRPr lang="en-US" sz="1300" dirty="0"/>
          </a:p>
        </p:txBody>
      </p:sp>
      <p:sp>
        <p:nvSpPr>
          <p:cNvPr id="8" name="Shape 4"/>
          <p:cNvSpPr/>
          <p:nvPr/>
        </p:nvSpPr>
        <p:spPr>
          <a:xfrm>
            <a:off x="457200" y="2468880"/>
            <a:ext cx="3611880" cy="3703320"/>
          </a:xfrm>
          <a:prstGeom prst="roundRect">
            <a:avLst>
              <a:gd name="adj" fmla="val 2025"/>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9" name="Shape 5"/>
          <p:cNvSpPr/>
          <p:nvPr/>
        </p:nvSpPr>
        <p:spPr>
          <a:xfrm>
            <a:off x="658368" y="2670048"/>
            <a:ext cx="502920" cy="502920"/>
          </a:xfrm>
          <a:prstGeom prst="roundRect">
            <a:avLst>
              <a:gd name="adj" fmla="val 18182"/>
            </a:avLst>
          </a:prstGeom>
          <a:solidFill>
            <a:srgbClr val="FDECEC"/>
          </a:solidFill>
          <a:ln w="9525">
            <a:solidFill>
              <a:srgbClr val="F2C2BE"/>
            </a:solidFill>
            <a:prstDash val="solid"/>
          </a:ln>
        </p:spPr>
      </p:sp>
      <p:sp>
        <p:nvSpPr>
          <p:cNvPr id="10" name="Text 6"/>
          <p:cNvSpPr txBox="1"/>
          <p:nvPr/>
        </p:nvSpPr>
        <p:spPr>
          <a:xfrm>
            <a:off x="658368" y="2670048"/>
            <a:ext cx="502920" cy="502920"/>
          </a:xfrm>
          <a:prstGeom prst="rect">
            <a:avLst/>
          </a:prstGeom>
          <a:noFill/>
          <a:ln/>
        </p:spPr>
        <p:txBody>
          <a:bodyPr wrap="square" lIns="0" tIns="0" rIns="0" bIns="0" rtlCol="0" anchor="ctr"/>
          <a:lstStyle/>
          <a:p>
            <a:pPr algn="ctr" indent="0" marL="0">
              <a:buNone/>
            </a:pPr>
            <a:r>
              <a:rPr lang="en-US" sz="2000" b="1" dirty="0">
                <a:solidFill>
                  <a:srgbClr val="C8372D"/>
                </a:solidFill>
                <a:latin typeface="Arial" pitchFamily="34" charset="0"/>
                <a:ea typeface="Arial" pitchFamily="34" charset="-122"/>
                <a:cs typeface="Arial" pitchFamily="34" charset="-120"/>
              </a:rPr>
              <a:t>A</a:t>
            </a:r>
            <a:endParaRPr lang="en-US" sz="2000" dirty="0"/>
          </a:p>
        </p:txBody>
      </p:sp>
      <p:sp>
        <p:nvSpPr>
          <p:cNvPr id="11" name="Text 7"/>
          <p:cNvSpPr txBox="1"/>
          <p:nvPr/>
        </p:nvSpPr>
        <p:spPr>
          <a:xfrm>
            <a:off x="1280160" y="2670048"/>
            <a:ext cx="2651760" cy="502920"/>
          </a:xfrm>
          <a:prstGeom prst="rect">
            <a:avLst/>
          </a:prstGeom>
          <a:noFill/>
          <a:ln/>
        </p:spPr>
        <p:txBody>
          <a:bodyPr wrap="square" lIns="0" tIns="0" rIns="0" bIns="0" rtlCol="0" anchor="ctr"/>
          <a:lstStyle/>
          <a:p>
            <a:pPr indent="0" marL="0">
              <a:buNone/>
            </a:pPr>
            <a:r>
              <a:rPr lang="en-US" sz="1350" b="1" dirty="0">
                <a:solidFill>
                  <a:srgbClr val="0D1117"/>
                </a:solidFill>
                <a:latin typeface="Arial" pitchFamily="34" charset="0"/>
                <a:ea typeface="Arial" pitchFamily="34" charset="-122"/>
                <a:cs typeface="Arial" pitchFamily="34" charset="-120"/>
              </a:rPr>
              <a:t>Uniform reward, β = 0.1</a:t>
            </a:r>
            <a:endParaRPr lang="en-US" sz="1350" dirty="0"/>
          </a:p>
        </p:txBody>
      </p:sp>
      <p:sp>
        <p:nvSpPr>
          <p:cNvPr id="12" name="Text 8"/>
          <p:cNvSpPr txBox="1"/>
          <p:nvPr/>
        </p:nvSpPr>
        <p:spPr>
          <a:xfrm>
            <a:off x="658368" y="3310128"/>
            <a:ext cx="3200400" cy="1783080"/>
          </a:xfrm>
          <a:prstGeom prst="rect">
            <a:avLst/>
          </a:prstGeom>
          <a:noFill/>
          <a:ln/>
        </p:spPr>
        <p:txBody>
          <a:bodyPr wrap="square" lIns="0" tIns="0" rIns="0" bIns="0" rtlCol="0" anchor="t"/>
          <a:lstStyle/>
          <a:p>
            <a:pPr indent="0" marL="0">
              <a:buNone/>
            </a:pPr>
            <a:r>
              <a:rPr lang="en-US" sz="1200" dirty="0">
                <a:solidFill>
                  <a:srgbClr val="5A6472"/>
                </a:solidFill>
                <a:latin typeface="Calibri" pitchFamily="34" charset="0"/>
                <a:ea typeface="Calibri" pitchFamily="34" charset="-122"/>
                <a:cs typeface="Calibri" pitchFamily="34" charset="-120"/>
              </a:rPr>
              <a:t>chrF++ to the reference + dialect-marker bonus for all six dialects. Trusts self-distilled bronze for Egyptian and Lebanese; a real reference is in the pool 99% of the time and usually wins, so DPO mostly re-teaches cross-entropy.</a:t>
            </a:r>
            <a:endParaRPr lang="en-US" sz="1200" dirty="0"/>
          </a:p>
        </p:txBody>
      </p:sp>
      <p:sp>
        <p:nvSpPr>
          <p:cNvPr id="13" name="Text 9"/>
          <p:cNvSpPr txBox="1"/>
          <p:nvPr/>
        </p:nvSpPr>
        <p:spPr>
          <a:xfrm>
            <a:off x="658368" y="5138928"/>
            <a:ext cx="1463040" cy="548640"/>
          </a:xfrm>
          <a:prstGeom prst="rect">
            <a:avLst/>
          </a:prstGeom>
          <a:noFill/>
          <a:ln/>
        </p:spPr>
        <p:txBody>
          <a:bodyPr wrap="square" lIns="0" tIns="0" rIns="0" bIns="0" rtlCol="0" anchor="ctr"/>
          <a:lstStyle/>
          <a:p>
            <a:pPr indent="0" marL="0">
              <a:buNone/>
            </a:pPr>
            <a:r>
              <a:rPr lang="en-US" sz="2800" b="1" dirty="0">
                <a:solidFill>
                  <a:srgbClr val="C8372D"/>
                </a:solidFill>
                <a:latin typeface="Arial" pitchFamily="34" charset="0"/>
                <a:ea typeface="Arial" pitchFamily="34" charset="-122"/>
                <a:cs typeface="Arial" pitchFamily="34" charset="-120"/>
              </a:rPr>
              <a:t>25.02</a:t>
            </a:r>
            <a:endParaRPr lang="en-US" sz="2800" dirty="0"/>
          </a:p>
        </p:txBody>
      </p:sp>
      <p:sp>
        <p:nvSpPr>
          <p:cNvPr id="14" name="Text 10"/>
          <p:cNvSpPr txBox="1"/>
          <p:nvPr/>
        </p:nvSpPr>
        <p:spPr>
          <a:xfrm>
            <a:off x="2103120" y="5166360"/>
            <a:ext cx="1828800" cy="548640"/>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real spBLEU</a:t>
            </a:r>
            <a:endParaRPr lang="en-US" sz="1150" dirty="0"/>
          </a:p>
          <a:p>
            <a:pPr indent="0" marL="0">
              <a:buNone/>
            </a:pPr>
            <a:r>
              <a:rPr lang="en-US" sz="1150" dirty="0">
                <a:solidFill>
                  <a:srgbClr val="5A6472"/>
                </a:solidFill>
                <a:latin typeface="Calibri" pitchFamily="34" charset="0"/>
                <a:ea typeface="Calibri" pitchFamily="34" charset="-122"/>
                <a:cs typeface="Calibri" pitchFamily="34" charset="-120"/>
              </a:rPr>
              <a:t>regressed (then-best 27.89)</a:t>
            </a:r>
            <a:endParaRPr lang="en-US" sz="1150" dirty="0"/>
          </a:p>
        </p:txBody>
      </p:sp>
      <p:sp>
        <p:nvSpPr>
          <p:cNvPr id="15" name="Shape 11"/>
          <p:cNvSpPr/>
          <p:nvPr/>
        </p:nvSpPr>
        <p:spPr>
          <a:xfrm>
            <a:off x="4279392" y="2468880"/>
            <a:ext cx="3611880" cy="3703320"/>
          </a:xfrm>
          <a:prstGeom prst="roundRect">
            <a:avLst>
              <a:gd name="adj" fmla="val 2025"/>
            </a:avLst>
          </a:prstGeom>
          <a:solidFill>
            <a:srgbClr val="E7F6EE"/>
          </a:solidFill>
          <a:ln w="9525">
            <a:solidFill>
              <a:srgbClr val="138A52"/>
            </a:solidFill>
            <a:prstDash val="solid"/>
          </a:ln>
          <a:effectLst>
            <a:outerShdw sx="100000" sy="100000" kx="0" ky="0" algn="bl" rotWithShape="0" blurRad="101600" dist="25400" dir="5400000">
              <a:srgbClr val="0D1B3A">
                <a:alpha val="10000"/>
              </a:srgbClr>
            </a:outerShdw>
          </a:effectLst>
        </p:spPr>
      </p:sp>
      <p:sp>
        <p:nvSpPr>
          <p:cNvPr id="16" name="Shape 12"/>
          <p:cNvSpPr/>
          <p:nvPr/>
        </p:nvSpPr>
        <p:spPr>
          <a:xfrm>
            <a:off x="4480560" y="2670048"/>
            <a:ext cx="502920" cy="502920"/>
          </a:xfrm>
          <a:prstGeom prst="roundRect">
            <a:avLst>
              <a:gd name="adj" fmla="val 18182"/>
            </a:avLst>
          </a:prstGeom>
          <a:solidFill>
            <a:srgbClr val="138A52"/>
          </a:solidFill>
          <a:ln w="9525">
            <a:solidFill>
              <a:srgbClr val="138A52"/>
            </a:solidFill>
            <a:prstDash val="solid"/>
          </a:ln>
        </p:spPr>
      </p:sp>
      <p:sp>
        <p:nvSpPr>
          <p:cNvPr id="17" name="Text 13"/>
          <p:cNvSpPr txBox="1"/>
          <p:nvPr/>
        </p:nvSpPr>
        <p:spPr>
          <a:xfrm>
            <a:off x="4480560" y="267004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B</a:t>
            </a:r>
            <a:endParaRPr lang="en-US" sz="2000" dirty="0"/>
          </a:p>
        </p:txBody>
      </p:sp>
      <p:sp>
        <p:nvSpPr>
          <p:cNvPr id="18" name="Text 14"/>
          <p:cNvSpPr txBox="1"/>
          <p:nvPr/>
        </p:nvSpPr>
        <p:spPr>
          <a:xfrm>
            <a:off x="5102352" y="2670048"/>
            <a:ext cx="2651760" cy="502920"/>
          </a:xfrm>
          <a:prstGeom prst="rect">
            <a:avLst/>
          </a:prstGeom>
          <a:noFill/>
          <a:ln/>
        </p:spPr>
        <p:txBody>
          <a:bodyPr wrap="square" lIns="0" tIns="0" rIns="0" bIns="0" rtlCol="0" anchor="ctr"/>
          <a:lstStyle/>
          <a:p>
            <a:pPr indent="0" marL="0">
              <a:buNone/>
            </a:pPr>
            <a:r>
              <a:rPr lang="en-US" sz="1350" b="1" dirty="0">
                <a:solidFill>
                  <a:srgbClr val="0D1117"/>
                </a:solidFill>
                <a:latin typeface="Arial" pitchFamily="34" charset="0"/>
                <a:ea typeface="Arial" pitchFamily="34" charset="-122"/>
                <a:cs typeface="Arial" pitchFamily="34" charset="-120"/>
              </a:rPr>
              <a:t>Trust-restricted reward, β = 0.3</a:t>
            </a:r>
            <a:endParaRPr lang="en-US" sz="1350" dirty="0"/>
          </a:p>
        </p:txBody>
      </p:sp>
      <p:sp>
        <p:nvSpPr>
          <p:cNvPr id="19" name="Text 15"/>
          <p:cNvSpPr txBox="1"/>
          <p:nvPr/>
        </p:nvSpPr>
        <p:spPr>
          <a:xfrm>
            <a:off x="4480560" y="3310128"/>
            <a:ext cx="3200400" cy="1783080"/>
          </a:xfrm>
          <a:prstGeom prst="rect">
            <a:avLst/>
          </a:prstGeom>
          <a:noFill/>
          <a:ln/>
        </p:spPr>
        <p:txBody>
          <a:bodyPr wrap="square" lIns="0" tIns="0" rIns="0" bIns="0" rtlCol="0" anchor="t"/>
          <a:lstStyle/>
          <a:p>
            <a:pPr indent="0" marL="0">
              <a:buNone/>
            </a:pPr>
            <a:r>
              <a:rPr lang="en-US" sz="1200" dirty="0">
                <a:solidFill>
                  <a:srgbClr val="5A6472"/>
                </a:solidFill>
                <a:latin typeface="Calibri" pitchFamily="34" charset="0"/>
                <a:ea typeface="Calibri" pitchFamily="34" charset="-122"/>
                <a:cs typeface="Calibri" pitchFamily="34" charset="-120"/>
              </a:rPr>
              <a:t>No bronze references for the four dialects with gold or silver data. Egyptian and Lebanese get a reference-free reward: BGE-M3 similarity to the source + the marker bonus.</a:t>
            </a:r>
            <a:endParaRPr lang="en-US" sz="1200" dirty="0"/>
          </a:p>
        </p:txBody>
      </p:sp>
      <p:sp>
        <p:nvSpPr>
          <p:cNvPr id="20" name="Text 16"/>
          <p:cNvSpPr txBox="1"/>
          <p:nvPr/>
        </p:nvSpPr>
        <p:spPr>
          <a:xfrm>
            <a:off x="4480560" y="5138928"/>
            <a:ext cx="1463040" cy="548640"/>
          </a:xfrm>
          <a:prstGeom prst="rect">
            <a:avLst/>
          </a:prstGeom>
          <a:noFill/>
          <a:ln/>
        </p:spPr>
        <p:txBody>
          <a:bodyPr wrap="square" lIns="0" tIns="0" rIns="0" bIns="0" rtlCol="0" anchor="ctr"/>
          <a:lstStyle/>
          <a:p>
            <a:pPr indent="0" marL="0">
              <a:buNone/>
            </a:pPr>
            <a:r>
              <a:rPr lang="en-US" sz="2800" b="1" dirty="0">
                <a:solidFill>
                  <a:srgbClr val="138A52"/>
                </a:solidFill>
                <a:latin typeface="Arial" pitchFamily="34" charset="0"/>
                <a:ea typeface="Arial" pitchFamily="34" charset="-122"/>
                <a:cs typeface="Arial" pitchFamily="34" charset="-120"/>
              </a:rPr>
              <a:t>28.04</a:t>
            </a:r>
            <a:endParaRPr lang="en-US" sz="2800" dirty="0"/>
          </a:p>
        </p:txBody>
      </p:sp>
      <p:sp>
        <p:nvSpPr>
          <p:cNvPr id="21" name="Text 17"/>
          <p:cNvSpPr txBox="1"/>
          <p:nvPr/>
        </p:nvSpPr>
        <p:spPr>
          <a:xfrm>
            <a:off x="5925312" y="5166360"/>
            <a:ext cx="1828800" cy="548640"/>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real spBLEU</a:t>
            </a:r>
            <a:endParaRPr lang="en-US" sz="1150" dirty="0"/>
          </a:p>
          <a:p>
            <a:pPr indent="0" marL="0">
              <a:buNone/>
            </a:pPr>
            <a:r>
              <a:rPr lang="en-US" sz="1150" dirty="0">
                <a:solidFill>
                  <a:srgbClr val="5A6472"/>
                </a:solidFill>
                <a:latin typeface="Calibri" pitchFamily="34" charset="0"/>
                <a:ea typeface="Calibri" pitchFamily="34" charset="-122"/>
                <a:cs typeface="Calibri" pitchFamily="34" charset="-120"/>
              </a:rPr>
              <a:t>best result overall</a:t>
            </a:r>
            <a:endParaRPr lang="en-US" sz="1150" dirty="0"/>
          </a:p>
        </p:txBody>
      </p:sp>
      <p:sp>
        <p:nvSpPr>
          <p:cNvPr id="22" name="Shape 18"/>
          <p:cNvSpPr/>
          <p:nvPr/>
        </p:nvSpPr>
        <p:spPr>
          <a:xfrm>
            <a:off x="8101584" y="2468880"/>
            <a:ext cx="3611880" cy="3703320"/>
          </a:xfrm>
          <a:prstGeom prst="roundRect">
            <a:avLst>
              <a:gd name="adj" fmla="val 2025"/>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23" name="Shape 19"/>
          <p:cNvSpPr/>
          <p:nvPr/>
        </p:nvSpPr>
        <p:spPr>
          <a:xfrm>
            <a:off x="8302752" y="2670048"/>
            <a:ext cx="502920" cy="502920"/>
          </a:xfrm>
          <a:prstGeom prst="roundRect">
            <a:avLst>
              <a:gd name="adj" fmla="val 18182"/>
            </a:avLst>
          </a:prstGeom>
          <a:solidFill>
            <a:srgbClr val="FDECEC"/>
          </a:solidFill>
          <a:ln w="9525">
            <a:solidFill>
              <a:srgbClr val="F2C2BE"/>
            </a:solidFill>
            <a:prstDash val="solid"/>
          </a:ln>
        </p:spPr>
      </p:sp>
      <p:sp>
        <p:nvSpPr>
          <p:cNvPr id="24" name="Text 20"/>
          <p:cNvSpPr txBox="1"/>
          <p:nvPr/>
        </p:nvSpPr>
        <p:spPr>
          <a:xfrm>
            <a:off x="8302752" y="2670048"/>
            <a:ext cx="502920" cy="502920"/>
          </a:xfrm>
          <a:prstGeom prst="rect">
            <a:avLst/>
          </a:prstGeom>
          <a:noFill/>
          <a:ln/>
        </p:spPr>
        <p:txBody>
          <a:bodyPr wrap="square" lIns="0" tIns="0" rIns="0" bIns="0" rtlCol="0" anchor="ctr"/>
          <a:lstStyle/>
          <a:p>
            <a:pPr algn="ctr" indent="0" marL="0">
              <a:buNone/>
            </a:pPr>
            <a:r>
              <a:rPr lang="en-US" sz="2000" b="1" dirty="0">
                <a:solidFill>
                  <a:srgbClr val="C8372D"/>
                </a:solidFill>
                <a:latin typeface="Arial" pitchFamily="34" charset="0"/>
                <a:ea typeface="Arial" pitchFamily="34" charset="-122"/>
                <a:cs typeface="Arial" pitchFamily="34" charset="-120"/>
              </a:rPr>
              <a:t>C</a:t>
            </a:r>
            <a:endParaRPr lang="en-US" sz="2000" dirty="0"/>
          </a:p>
        </p:txBody>
      </p:sp>
      <p:sp>
        <p:nvSpPr>
          <p:cNvPr id="25" name="Text 21"/>
          <p:cNvSpPr txBox="1"/>
          <p:nvPr/>
        </p:nvSpPr>
        <p:spPr>
          <a:xfrm>
            <a:off x="8924544" y="2670048"/>
            <a:ext cx="2651760" cy="502920"/>
          </a:xfrm>
          <a:prstGeom prst="rect">
            <a:avLst/>
          </a:prstGeom>
          <a:noFill/>
          <a:ln/>
        </p:spPr>
        <p:txBody>
          <a:bodyPr wrap="square" lIns="0" tIns="0" rIns="0" bIns="0" rtlCol="0" anchor="ctr"/>
          <a:lstStyle/>
          <a:p>
            <a:pPr indent="0" marL="0">
              <a:buNone/>
            </a:pPr>
            <a:r>
              <a:rPr lang="en-US" sz="1350" b="1" dirty="0">
                <a:solidFill>
                  <a:srgbClr val="0D1117"/>
                </a:solidFill>
                <a:latin typeface="Arial" pitchFamily="34" charset="0"/>
                <a:ea typeface="Arial" pitchFamily="34" charset="-122"/>
                <a:cs typeface="Arial" pitchFamily="34" charset="-120"/>
              </a:rPr>
              <a:t>B repeated on its own output</a:t>
            </a:r>
            <a:endParaRPr lang="en-US" sz="1350" dirty="0"/>
          </a:p>
        </p:txBody>
      </p:sp>
      <p:sp>
        <p:nvSpPr>
          <p:cNvPr id="26" name="Text 22"/>
          <p:cNvSpPr txBox="1"/>
          <p:nvPr/>
        </p:nvSpPr>
        <p:spPr>
          <a:xfrm>
            <a:off x="8302752" y="3310128"/>
            <a:ext cx="3200400" cy="1783080"/>
          </a:xfrm>
          <a:prstGeom prst="rect">
            <a:avLst/>
          </a:prstGeom>
          <a:noFill/>
          <a:ln/>
        </p:spPr>
        <p:txBody>
          <a:bodyPr wrap="square" lIns="0" tIns="0" rIns="0" bIns="0" rtlCol="0" anchor="t"/>
          <a:lstStyle/>
          <a:p>
            <a:pPr indent="0" marL="0">
              <a:buNone/>
            </a:pPr>
            <a:r>
              <a:rPr lang="en-US" sz="1200" dirty="0">
                <a:solidFill>
                  <a:srgbClr val="5A6472"/>
                </a:solidFill>
                <a:latin typeface="Calibri" pitchFamily="34" charset="0"/>
                <a:ea typeface="Calibri" pitchFamily="34" charset="-122"/>
                <a:cs typeface="Calibri" pitchFamily="34" charset="-120"/>
              </a:rPr>
              <a:t>Same reward, initialised from B, fresh candidates from the improved policy. Regressed on every offline metric tracked (silver_dev −5.6), so it was withheld.</a:t>
            </a:r>
            <a:endParaRPr lang="en-US" sz="1200" dirty="0"/>
          </a:p>
        </p:txBody>
      </p:sp>
      <p:sp>
        <p:nvSpPr>
          <p:cNvPr id="27" name="Text 23"/>
          <p:cNvSpPr txBox="1"/>
          <p:nvPr/>
        </p:nvSpPr>
        <p:spPr>
          <a:xfrm>
            <a:off x="8302752" y="5138928"/>
            <a:ext cx="1463040" cy="548640"/>
          </a:xfrm>
          <a:prstGeom prst="rect">
            <a:avLst/>
          </a:prstGeom>
          <a:noFill/>
          <a:ln/>
        </p:spPr>
        <p:txBody>
          <a:bodyPr wrap="square" lIns="0" tIns="0" rIns="0" bIns="0" rtlCol="0" anchor="ctr"/>
          <a:lstStyle/>
          <a:p>
            <a:pPr indent="0" marL="0">
              <a:buNone/>
            </a:pPr>
            <a:r>
              <a:rPr lang="en-US" sz="2800" b="1" dirty="0">
                <a:solidFill>
                  <a:srgbClr val="C8372D"/>
                </a:solidFill>
                <a:latin typeface="Arial" pitchFamily="34" charset="0"/>
                <a:ea typeface="Arial" pitchFamily="34" charset="-122"/>
                <a:cs typeface="Arial" pitchFamily="34" charset="-120"/>
              </a:rPr>
              <a:t>—</a:t>
            </a:r>
            <a:endParaRPr lang="en-US" sz="2800" dirty="0"/>
          </a:p>
        </p:txBody>
      </p:sp>
      <p:sp>
        <p:nvSpPr>
          <p:cNvPr id="28" name="Text 24"/>
          <p:cNvSpPr txBox="1"/>
          <p:nvPr/>
        </p:nvSpPr>
        <p:spPr>
          <a:xfrm>
            <a:off x="9747504" y="5166360"/>
            <a:ext cx="1828800" cy="548640"/>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not submitted</a:t>
            </a:r>
            <a:endParaRPr lang="en-US" sz="1150" dirty="0"/>
          </a:p>
          <a:p>
            <a:pPr indent="0" marL="0">
              <a:buNone/>
            </a:pPr>
            <a:r>
              <a:rPr lang="en-US" sz="1150" dirty="0">
                <a:solidFill>
                  <a:srgbClr val="5A6472"/>
                </a:solidFill>
                <a:latin typeface="Calibri" pitchFamily="34" charset="0"/>
                <a:ea typeface="Calibri" pitchFamily="34" charset="-122"/>
                <a:cs typeface="Calibri" pitchFamily="34" charset="-120"/>
              </a:rPr>
              <a:t>offline regression</a:t>
            </a:r>
            <a:endParaRPr lang="en-US" sz="11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body" hasCustomPrompt="1"/>
          </p:nvPr>
        </p:nvSpPr>
        <p:spPr>
          <a:xfrm>
            <a:off x="822960" y="548640"/>
            <a:ext cx="8229600" cy="274320"/>
          </a:xfrm>
          <a:prstGeom prst="rect">
            <a:avLst/>
          </a:prstGeom>
          <a:noFill/>
          <a:ln/>
        </p:spPr>
        <p:txBody>
          <a:bodyPr wrap="square" lIns="0" tIns="0" rIns="0" bIns="0" rtlCol="0" anchor="ctr"/>
          <a:lstStyle/>
          <a:p>
            <a:pPr algn="l" indent="0" marL="0">
              <a:buNone/>
            </a:pPr>
            <a:r>
              <a:rPr lang="en-US" sz="1200" b="1" spc="100" kern="0" dirty="0">
                <a:solidFill>
                  <a:srgbClr val="22C3FF"/>
                </a:solidFill>
                <a:latin typeface="Arial" pitchFamily="34" charset="0"/>
                <a:ea typeface="Arial" pitchFamily="34" charset="-122"/>
                <a:cs typeface="Arial" pitchFamily="34" charset="-120"/>
              </a:rPr>
              <a:t>THE CENTRAL FINDING</a:t>
            </a:r>
            <a:endParaRPr lang="en-US" sz="1200" dirty="0"/>
          </a:p>
        </p:txBody>
      </p:sp>
      <p:sp>
        <p:nvSpPr>
          <p:cNvPr id="3" name="Text 1"/>
          <p:cNvSpPr/>
          <p:nvPr>
            <p:ph idx="104" type="title" hasCustomPrompt="1"/>
          </p:nvPr>
        </p:nvSpPr>
        <p:spPr>
          <a:xfrm>
            <a:off x="457200" y="1097280"/>
            <a:ext cx="11247120" cy="118872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Training dynamics did not predict real quality</a:t>
            </a:r>
            <a:endParaRPr lang="en-US" sz="3000" dirty="0"/>
          </a:p>
        </p:txBody>
      </p:sp>
      <p:sp>
        <p:nvSpPr>
          <p:cNvPr id="5" name="Text 2"/>
          <p:cNvSpPr txBox="1"/>
          <p:nvPr/>
        </p:nvSpPr>
        <p:spPr>
          <a:xfrm>
            <a:off x="457200" y="2148840"/>
            <a:ext cx="10972800" cy="548640"/>
          </a:xfrm>
          <a:prstGeom prst="rect">
            <a:avLst/>
          </a:prstGeom>
          <a:noFill/>
          <a:ln/>
        </p:spPr>
        <p:txBody>
          <a:bodyPr wrap="square" lIns="0" tIns="0" rIns="0" bIns="0" rtlCol="0" anchor="t"/>
          <a:lstStyle/>
          <a:p>
            <a:pPr indent="0" marL="0">
              <a:buNone/>
            </a:pPr>
            <a:r>
              <a:rPr lang="en-US" sz="1500" i="1" dirty="0">
                <a:solidFill>
                  <a:srgbClr val="B8C4D6"/>
                </a:solidFill>
                <a:latin typeface="Calibri" pitchFamily="34" charset="0"/>
                <a:ea typeface="Calibri" pitchFamily="34" charset="-122"/>
                <a:cs typeface="Calibri" pitchFamily="34" charset="-120"/>
              </a:rPr>
              <a:t>Preference accuracy measures how well a policy satisfies its own reward, not whether that reward corresponds to real translation quality.</a:t>
            </a:r>
            <a:endParaRPr lang="en-US" sz="1500" dirty="0"/>
          </a:p>
        </p:txBody>
      </p:sp>
      <p:sp>
        <p:nvSpPr>
          <p:cNvPr id="6" name="Shape 3"/>
          <p:cNvSpPr/>
          <p:nvPr/>
        </p:nvSpPr>
        <p:spPr>
          <a:xfrm>
            <a:off x="457200" y="2926080"/>
            <a:ext cx="3611880" cy="2057400"/>
          </a:xfrm>
          <a:prstGeom prst="roundRect">
            <a:avLst>
              <a:gd name="adj" fmla="val 3556"/>
            </a:avLst>
          </a:prstGeom>
          <a:solidFill>
            <a:srgbClr val="12203A"/>
          </a:solidFill>
          <a:ln w="9525">
            <a:solidFill>
              <a:srgbClr val="26406E"/>
            </a:solidFill>
            <a:prstDash val="solid"/>
          </a:ln>
          <a:effectLst>
            <a:outerShdw sx="100000" sy="100000" kx="0" ky="0" algn="bl" rotWithShape="0" blurRad="101600" dist="25400" dir="5400000">
              <a:srgbClr val="0D1B3A">
                <a:alpha val="35000"/>
              </a:srgbClr>
            </a:outerShdw>
          </a:effectLst>
        </p:spPr>
      </p:sp>
      <p:sp>
        <p:nvSpPr>
          <p:cNvPr id="7" name="Text 4"/>
          <p:cNvSpPr txBox="1"/>
          <p:nvPr/>
        </p:nvSpPr>
        <p:spPr>
          <a:xfrm>
            <a:off x="685800" y="3063240"/>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Config A</a:t>
            </a:r>
            <a:endParaRPr lang="en-US" sz="1500" dirty="0"/>
          </a:p>
        </p:txBody>
      </p:sp>
      <p:sp>
        <p:nvSpPr>
          <p:cNvPr id="8" name="Text 5"/>
          <p:cNvSpPr txBox="1"/>
          <p:nvPr/>
        </p:nvSpPr>
        <p:spPr>
          <a:xfrm>
            <a:off x="685800" y="3520440"/>
            <a:ext cx="1554480" cy="548640"/>
          </a:xfrm>
          <a:prstGeom prst="rect">
            <a:avLst/>
          </a:prstGeom>
          <a:noFill/>
          <a:ln/>
        </p:spPr>
        <p:txBody>
          <a:bodyPr wrap="square" lIns="0" tIns="0" rIns="0" bIns="0" rtlCol="0" anchor="ctr"/>
          <a:lstStyle/>
          <a:p>
            <a:pPr indent="0" marL="0">
              <a:buNone/>
            </a:pPr>
            <a:r>
              <a:rPr lang="en-US" sz="2800" b="1" dirty="0">
                <a:solidFill>
                  <a:srgbClr val="9FB3D0"/>
                </a:solidFill>
                <a:latin typeface="Arial" pitchFamily="34" charset="0"/>
                <a:ea typeface="Arial" pitchFamily="34" charset="-122"/>
                <a:cs typeface="Arial" pitchFamily="34" charset="-120"/>
              </a:rPr>
              <a:t>0.683</a:t>
            </a:r>
            <a:endParaRPr lang="en-US" sz="2800" dirty="0"/>
          </a:p>
        </p:txBody>
      </p:sp>
      <p:sp>
        <p:nvSpPr>
          <p:cNvPr id="9" name="Text 6"/>
          <p:cNvSpPr txBox="1"/>
          <p:nvPr/>
        </p:nvSpPr>
        <p:spPr>
          <a:xfrm>
            <a:off x="685800" y="4114800"/>
            <a:ext cx="1554480" cy="548640"/>
          </a:xfrm>
          <a:prstGeom prst="rect">
            <a:avLst/>
          </a:prstGeom>
          <a:noFill/>
          <a:ln/>
        </p:spPr>
        <p:txBody>
          <a:bodyPr wrap="square" lIns="0" tIns="0" rIns="0" bIns="0" rtlCol="0" anchor="t"/>
          <a:lstStyle/>
          <a:p>
            <a:pPr indent="0" marL="0">
              <a:buNone/>
            </a:pPr>
            <a:r>
              <a:rPr lang="en-US" sz="1100" dirty="0">
                <a:solidFill>
                  <a:srgbClr val="9FB3D0"/>
                </a:solidFill>
                <a:latin typeface="Calibri" pitchFamily="34" charset="0"/>
                <a:ea typeface="Calibri" pitchFamily="34" charset="-122"/>
                <a:cs typeface="Calibri" pitchFamily="34" charset="-120"/>
              </a:rPr>
              <a:t>final-epoch</a:t>
            </a:r>
            <a:endParaRPr lang="en-US" sz="1100" dirty="0"/>
          </a:p>
          <a:p>
            <a:pPr indent="0" marL="0">
              <a:buNone/>
            </a:pPr>
            <a:r>
              <a:rPr lang="en-US" sz="1100" dirty="0">
                <a:solidFill>
                  <a:srgbClr val="9FB3D0"/>
                </a:solidFill>
                <a:latin typeface="Calibri" pitchFamily="34" charset="0"/>
                <a:ea typeface="Calibri" pitchFamily="34" charset="-122"/>
                <a:cs typeface="Calibri" pitchFamily="34" charset="-120"/>
              </a:rPr>
              <a:t>preference acc.</a:t>
            </a:r>
            <a:endParaRPr lang="en-US" sz="1100" dirty="0"/>
          </a:p>
        </p:txBody>
      </p:sp>
      <p:sp>
        <p:nvSpPr>
          <p:cNvPr id="10" name="Text 7"/>
          <p:cNvSpPr txBox="1"/>
          <p:nvPr/>
        </p:nvSpPr>
        <p:spPr>
          <a:xfrm>
            <a:off x="2331720" y="3520440"/>
            <a:ext cx="1554480" cy="548640"/>
          </a:xfrm>
          <a:prstGeom prst="rect">
            <a:avLst/>
          </a:prstGeom>
          <a:noFill/>
          <a:ln/>
        </p:spPr>
        <p:txBody>
          <a:bodyPr wrap="square" lIns="0" tIns="0" rIns="0" bIns="0" rtlCol="0" anchor="ctr"/>
          <a:lstStyle/>
          <a:p>
            <a:pPr indent="0" marL="0">
              <a:buNone/>
            </a:pPr>
            <a:r>
              <a:rPr lang="en-US" sz="2800" b="1" dirty="0">
                <a:solidFill>
                  <a:srgbClr val="E8A020"/>
                </a:solidFill>
                <a:latin typeface="Arial" pitchFamily="34" charset="0"/>
                <a:ea typeface="Arial" pitchFamily="34" charset="-122"/>
                <a:cs typeface="Arial" pitchFamily="34" charset="-120"/>
              </a:rPr>
              <a:t>25.02</a:t>
            </a:r>
            <a:endParaRPr lang="en-US" sz="2800" dirty="0"/>
          </a:p>
        </p:txBody>
      </p:sp>
      <p:sp>
        <p:nvSpPr>
          <p:cNvPr id="11" name="Text 8"/>
          <p:cNvSpPr txBox="1"/>
          <p:nvPr/>
        </p:nvSpPr>
        <p:spPr>
          <a:xfrm>
            <a:off x="2331720" y="4114800"/>
            <a:ext cx="1645920" cy="685800"/>
          </a:xfrm>
          <a:prstGeom prst="rect">
            <a:avLst/>
          </a:prstGeom>
          <a:noFill/>
          <a:ln/>
        </p:spPr>
        <p:txBody>
          <a:bodyPr wrap="square" lIns="0" tIns="0" rIns="0" bIns="0" rtlCol="0" anchor="t"/>
          <a:lstStyle/>
          <a:p>
            <a:pPr indent="0" marL="0">
              <a:buNone/>
            </a:pPr>
            <a:r>
              <a:rPr lang="en-US" sz="1100" dirty="0">
                <a:solidFill>
                  <a:srgbClr val="9FB3D0"/>
                </a:solidFill>
                <a:latin typeface="Calibri" pitchFamily="34" charset="0"/>
                <a:ea typeface="Calibri" pitchFamily="34" charset="-122"/>
                <a:cs typeface="Calibri" pitchFamily="34" charset="-120"/>
              </a:rPr>
              <a:t>real spBLEU</a:t>
            </a:r>
            <a:endParaRPr lang="en-US" sz="1100" dirty="0"/>
          </a:p>
          <a:p>
            <a:pPr indent="0" marL="0">
              <a:buNone/>
            </a:pPr>
            <a:r>
              <a:rPr lang="en-US" sz="1100" dirty="0">
                <a:solidFill>
                  <a:srgbClr val="9FB3D0"/>
                </a:solidFill>
                <a:latin typeface="Calibri" pitchFamily="34" charset="0"/>
                <a:ea typeface="Calibri" pitchFamily="34" charset="-122"/>
                <a:cs typeface="Calibri" pitchFamily="34" charset="-120"/>
              </a:rPr>
              <a:t>regressed</a:t>
            </a:r>
            <a:endParaRPr lang="en-US" sz="1100" dirty="0"/>
          </a:p>
        </p:txBody>
      </p:sp>
      <p:sp>
        <p:nvSpPr>
          <p:cNvPr id="12" name="Shape 9"/>
          <p:cNvSpPr/>
          <p:nvPr/>
        </p:nvSpPr>
        <p:spPr>
          <a:xfrm>
            <a:off x="4279392" y="2926080"/>
            <a:ext cx="3611880" cy="2057400"/>
          </a:xfrm>
          <a:prstGeom prst="roundRect">
            <a:avLst>
              <a:gd name="adj" fmla="val 3556"/>
            </a:avLst>
          </a:prstGeom>
          <a:solidFill>
            <a:srgbClr val="12203A"/>
          </a:solidFill>
          <a:ln w="9525">
            <a:solidFill>
              <a:srgbClr val="22C3FF"/>
            </a:solidFill>
            <a:prstDash val="solid"/>
          </a:ln>
          <a:effectLst>
            <a:outerShdw sx="100000" sy="100000" kx="0" ky="0" algn="bl" rotWithShape="0" blurRad="101600" dist="25400" dir="5400000">
              <a:srgbClr val="0D1B3A">
                <a:alpha val="35000"/>
              </a:srgbClr>
            </a:outerShdw>
          </a:effectLst>
        </p:spPr>
      </p:sp>
      <p:sp>
        <p:nvSpPr>
          <p:cNvPr id="13" name="Text 10"/>
          <p:cNvSpPr txBox="1"/>
          <p:nvPr/>
        </p:nvSpPr>
        <p:spPr>
          <a:xfrm>
            <a:off x="4507992" y="3063240"/>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Config B</a:t>
            </a:r>
            <a:endParaRPr lang="en-US" sz="1500" dirty="0"/>
          </a:p>
        </p:txBody>
      </p:sp>
      <p:sp>
        <p:nvSpPr>
          <p:cNvPr id="14" name="Text 11"/>
          <p:cNvSpPr txBox="1"/>
          <p:nvPr/>
        </p:nvSpPr>
        <p:spPr>
          <a:xfrm>
            <a:off x="4507992" y="3520440"/>
            <a:ext cx="1554480" cy="548640"/>
          </a:xfrm>
          <a:prstGeom prst="rect">
            <a:avLst/>
          </a:prstGeom>
          <a:noFill/>
          <a:ln/>
        </p:spPr>
        <p:txBody>
          <a:bodyPr wrap="square" lIns="0" tIns="0" rIns="0" bIns="0" rtlCol="0" anchor="ctr"/>
          <a:lstStyle/>
          <a:p>
            <a:pPr indent="0" marL="0">
              <a:buNone/>
            </a:pPr>
            <a:r>
              <a:rPr lang="en-US" sz="2800" b="1" dirty="0">
                <a:solidFill>
                  <a:srgbClr val="9FB3D0"/>
                </a:solidFill>
                <a:latin typeface="Arial" pitchFamily="34" charset="0"/>
                <a:ea typeface="Arial" pitchFamily="34" charset="-122"/>
                <a:cs typeface="Arial" pitchFamily="34" charset="-120"/>
              </a:rPr>
              <a:t>0.691</a:t>
            </a:r>
            <a:endParaRPr lang="en-US" sz="2800" dirty="0"/>
          </a:p>
        </p:txBody>
      </p:sp>
      <p:sp>
        <p:nvSpPr>
          <p:cNvPr id="15" name="Text 12"/>
          <p:cNvSpPr txBox="1"/>
          <p:nvPr/>
        </p:nvSpPr>
        <p:spPr>
          <a:xfrm>
            <a:off x="4507992" y="4114800"/>
            <a:ext cx="1554480" cy="548640"/>
          </a:xfrm>
          <a:prstGeom prst="rect">
            <a:avLst/>
          </a:prstGeom>
          <a:noFill/>
          <a:ln/>
        </p:spPr>
        <p:txBody>
          <a:bodyPr wrap="square" lIns="0" tIns="0" rIns="0" bIns="0" rtlCol="0" anchor="t"/>
          <a:lstStyle/>
          <a:p>
            <a:pPr indent="0" marL="0">
              <a:buNone/>
            </a:pPr>
            <a:r>
              <a:rPr lang="en-US" sz="1100" dirty="0">
                <a:solidFill>
                  <a:srgbClr val="9FB3D0"/>
                </a:solidFill>
                <a:latin typeface="Calibri" pitchFamily="34" charset="0"/>
                <a:ea typeface="Calibri" pitchFamily="34" charset="-122"/>
                <a:cs typeface="Calibri" pitchFamily="34" charset="-120"/>
              </a:rPr>
              <a:t>final-epoch</a:t>
            </a:r>
            <a:endParaRPr lang="en-US" sz="1100" dirty="0"/>
          </a:p>
          <a:p>
            <a:pPr indent="0" marL="0">
              <a:buNone/>
            </a:pPr>
            <a:r>
              <a:rPr lang="en-US" sz="1100" dirty="0">
                <a:solidFill>
                  <a:srgbClr val="9FB3D0"/>
                </a:solidFill>
                <a:latin typeface="Calibri" pitchFamily="34" charset="0"/>
                <a:ea typeface="Calibri" pitchFamily="34" charset="-122"/>
                <a:cs typeface="Calibri" pitchFamily="34" charset="-120"/>
              </a:rPr>
              <a:t>preference acc.</a:t>
            </a:r>
            <a:endParaRPr lang="en-US" sz="1100" dirty="0"/>
          </a:p>
        </p:txBody>
      </p:sp>
      <p:sp>
        <p:nvSpPr>
          <p:cNvPr id="16" name="Text 13"/>
          <p:cNvSpPr txBox="1"/>
          <p:nvPr/>
        </p:nvSpPr>
        <p:spPr>
          <a:xfrm>
            <a:off x="6153912" y="3520440"/>
            <a:ext cx="1554480" cy="548640"/>
          </a:xfrm>
          <a:prstGeom prst="rect">
            <a:avLst/>
          </a:prstGeom>
          <a:noFill/>
          <a:ln/>
        </p:spPr>
        <p:txBody>
          <a:bodyPr wrap="square" lIns="0" tIns="0" rIns="0" bIns="0" rtlCol="0" anchor="ctr"/>
          <a:lstStyle/>
          <a:p>
            <a:pPr indent="0" marL="0">
              <a:buNone/>
            </a:pPr>
            <a:r>
              <a:rPr lang="en-US" sz="2800" b="1" dirty="0">
                <a:solidFill>
                  <a:srgbClr val="22C3FF"/>
                </a:solidFill>
                <a:latin typeface="Arial" pitchFamily="34" charset="0"/>
                <a:ea typeface="Arial" pitchFamily="34" charset="-122"/>
                <a:cs typeface="Arial" pitchFamily="34" charset="-120"/>
              </a:rPr>
              <a:t>28.04</a:t>
            </a:r>
            <a:endParaRPr lang="en-US" sz="2800" dirty="0"/>
          </a:p>
        </p:txBody>
      </p:sp>
      <p:sp>
        <p:nvSpPr>
          <p:cNvPr id="17" name="Text 14"/>
          <p:cNvSpPr txBox="1"/>
          <p:nvPr/>
        </p:nvSpPr>
        <p:spPr>
          <a:xfrm>
            <a:off x="6153912" y="4114800"/>
            <a:ext cx="1645920" cy="685800"/>
          </a:xfrm>
          <a:prstGeom prst="rect">
            <a:avLst/>
          </a:prstGeom>
          <a:noFill/>
          <a:ln/>
        </p:spPr>
        <p:txBody>
          <a:bodyPr wrap="square" lIns="0" tIns="0" rIns="0" bIns="0" rtlCol="0" anchor="t"/>
          <a:lstStyle/>
          <a:p>
            <a:pPr indent="0" marL="0">
              <a:buNone/>
            </a:pPr>
            <a:r>
              <a:rPr lang="en-US" sz="1100" dirty="0">
                <a:solidFill>
                  <a:srgbClr val="9FB3D0"/>
                </a:solidFill>
                <a:latin typeface="Calibri" pitchFamily="34" charset="0"/>
                <a:ea typeface="Calibri" pitchFamily="34" charset="-122"/>
                <a:cs typeface="Calibri" pitchFamily="34" charset="-120"/>
              </a:rPr>
              <a:t>real spBLEU</a:t>
            </a:r>
            <a:endParaRPr lang="en-US" sz="1100" dirty="0"/>
          </a:p>
          <a:p>
            <a:pPr indent="0" marL="0">
              <a:buNone/>
            </a:pPr>
            <a:r>
              <a:rPr lang="en-US" sz="1100" dirty="0">
                <a:solidFill>
                  <a:srgbClr val="9FB3D0"/>
                </a:solidFill>
                <a:latin typeface="Calibri" pitchFamily="34" charset="0"/>
                <a:ea typeface="Calibri" pitchFamily="34" charset="-122"/>
                <a:cs typeface="Calibri" pitchFamily="34" charset="-120"/>
              </a:rPr>
              <a:t>best overall</a:t>
            </a:r>
            <a:endParaRPr lang="en-US" sz="1100" dirty="0"/>
          </a:p>
        </p:txBody>
      </p:sp>
      <p:sp>
        <p:nvSpPr>
          <p:cNvPr id="18" name="Shape 15"/>
          <p:cNvSpPr/>
          <p:nvPr/>
        </p:nvSpPr>
        <p:spPr>
          <a:xfrm>
            <a:off x="8101584" y="2926080"/>
            <a:ext cx="3611880" cy="2057400"/>
          </a:xfrm>
          <a:prstGeom prst="roundRect">
            <a:avLst>
              <a:gd name="adj" fmla="val 3556"/>
            </a:avLst>
          </a:prstGeom>
          <a:solidFill>
            <a:srgbClr val="12203A"/>
          </a:solidFill>
          <a:ln w="9525">
            <a:solidFill>
              <a:srgbClr val="26406E"/>
            </a:solidFill>
            <a:prstDash val="solid"/>
          </a:ln>
          <a:effectLst>
            <a:outerShdw sx="100000" sy="100000" kx="0" ky="0" algn="bl" rotWithShape="0" blurRad="101600" dist="25400" dir="5400000">
              <a:srgbClr val="0D1B3A">
                <a:alpha val="35000"/>
              </a:srgbClr>
            </a:outerShdw>
          </a:effectLst>
        </p:spPr>
      </p:sp>
      <p:sp>
        <p:nvSpPr>
          <p:cNvPr id="19" name="Text 16"/>
          <p:cNvSpPr txBox="1"/>
          <p:nvPr/>
        </p:nvSpPr>
        <p:spPr>
          <a:xfrm>
            <a:off x="8330184" y="3063240"/>
            <a:ext cx="310896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Config C</a:t>
            </a:r>
            <a:endParaRPr lang="en-US" sz="1500" dirty="0"/>
          </a:p>
        </p:txBody>
      </p:sp>
      <p:sp>
        <p:nvSpPr>
          <p:cNvPr id="20" name="Text 17"/>
          <p:cNvSpPr txBox="1"/>
          <p:nvPr/>
        </p:nvSpPr>
        <p:spPr>
          <a:xfrm>
            <a:off x="8330184" y="3520440"/>
            <a:ext cx="1554480" cy="548640"/>
          </a:xfrm>
          <a:prstGeom prst="rect">
            <a:avLst/>
          </a:prstGeom>
          <a:noFill/>
          <a:ln/>
        </p:spPr>
        <p:txBody>
          <a:bodyPr wrap="square" lIns="0" tIns="0" rIns="0" bIns="0" rtlCol="0" anchor="ctr"/>
          <a:lstStyle/>
          <a:p>
            <a:pPr indent="0" marL="0">
              <a:buNone/>
            </a:pPr>
            <a:r>
              <a:rPr lang="en-US" sz="2800" b="1" dirty="0">
                <a:solidFill>
                  <a:srgbClr val="9FB3D0"/>
                </a:solidFill>
                <a:latin typeface="Arial" pitchFamily="34" charset="0"/>
                <a:ea typeface="Arial" pitchFamily="34" charset="-122"/>
                <a:cs typeface="Arial" pitchFamily="34" charset="-120"/>
              </a:rPr>
              <a:t>0.717</a:t>
            </a:r>
            <a:endParaRPr lang="en-US" sz="2800" dirty="0"/>
          </a:p>
        </p:txBody>
      </p:sp>
      <p:sp>
        <p:nvSpPr>
          <p:cNvPr id="21" name="Text 18"/>
          <p:cNvSpPr txBox="1"/>
          <p:nvPr/>
        </p:nvSpPr>
        <p:spPr>
          <a:xfrm>
            <a:off x="8330184" y="4114800"/>
            <a:ext cx="1554480" cy="548640"/>
          </a:xfrm>
          <a:prstGeom prst="rect">
            <a:avLst/>
          </a:prstGeom>
          <a:noFill/>
          <a:ln/>
        </p:spPr>
        <p:txBody>
          <a:bodyPr wrap="square" lIns="0" tIns="0" rIns="0" bIns="0" rtlCol="0" anchor="t"/>
          <a:lstStyle/>
          <a:p>
            <a:pPr indent="0" marL="0">
              <a:buNone/>
            </a:pPr>
            <a:r>
              <a:rPr lang="en-US" sz="1100" dirty="0">
                <a:solidFill>
                  <a:srgbClr val="9FB3D0"/>
                </a:solidFill>
                <a:latin typeface="Calibri" pitchFamily="34" charset="0"/>
                <a:ea typeface="Calibri" pitchFamily="34" charset="-122"/>
                <a:cs typeface="Calibri" pitchFamily="34" charset="-120"/>
              </a:rPr>
              <a:t>final-epoch</a:t>
            </a:r>
            <a:endParaRPr lang="en-US" sz="1100" dirty="0"/>
          </a:p>
          <a:p>
            <a:pPr indent="0" marL="0">
              <a:buNone/>
            </a:pPr>
            <a:r>
              <a:rPr lang="en-US" sz="1100" dirty="0">
                <a:solidFill>
                  <a:srgbClr val="9FB3D0"/>
                </a:solidFill>
                <a:latin typeface="Calibri" pitchFamily="34" charset="0"/>
                <a:ea typeface="Calibri" pitchFamily="34" charset="-122"/>
                <a:cs typeface="Calibri" pitchFamily="34" charset="-120"/>
              </a:rPr>
              <a:t>preference acc.</a:t>
            </a:r>
            <a:endParaRPr lang="en-US" sz="1100" dirty="0"/>
          </a:p>
        </p:txBody>
      </p:sp>
      <p:sp>
        <p:nvSpPr>
          <p:cNvPr id="22" name="Text 19"/>
          <p:cNvSpPr txBox="1"/>
          <p:nvPr/>
        </p:nvSpPr>
        <p:spPr>
          <a:xfrm>
            <a:off x="9976104" y="3520440"/>
            <a:ext cx="1554480" cy="548640"/>
          </a:xfrm>
          <a:prstGeom prst="rect">
            <a:avLst/>
          </a:prstGeom>
          <a:noFill/>
          <a:ln/>
        </p:spPr>
        <p:txBody>
          <a:bodyPr wrap="square" lIns="0" tIns="0" rIns="0" bIns="0" rtlCol="0" anchor="ctr"/>
          <a:lstStyle/>
          <a:p>
            <a:pPr indent="0" marL="0">
              <a:buNone/>
            </a:pPr>
            <a:r>
              <a:rPr lang="en-US" sz="2800" b="1" dirty="0">
                <a:solidFill>
                  <a:srgbClr val="E8A020"/>
                </a:solidFill>
                <a:latin typeface="Arial" pitchFamily="34" charset="0"/>
                <a:ea typeface="Arial" pitchFamily="34" charset="-122"/>
                <a:cs typeface="Arial" pitchFamily="34" charset="-120"/>
              </a:rPr>
              <a:t>—</a:t>
            </a:r>
            <a:endParaRPr lang="en-US" sz="2800" dirty="0"/>
          </a:p>
        </p:txBody>
      </p:sp>
      <p:sp>
        <p:nvSpPr>
          <p:cNvPr id="23" name="Text 20"/>
          <p:cNvSpPr txBox="1"/>
          <p:nvPr/>
        </p:nvSpPr>
        <p:spPr>
          <a:xfrm>
            <a:off x="9976104" y="4114800"/>
            <a:ext cx="1645920" cy="685800"/>
          </a:xfrm>
          <a:prstGeom prst="rect">
            <a:avLst/>
          </a:prstGeom>
          <a:noFill/>
          <a:ln/>
        </p:spPr>
        <p:txBody>
          <a:bodyPr wrap="square" lIns="0" tIns="0" rIns="0" bIns="0" rtlCol="0" anchor="t"/>
          <a:lstStyle/>
          <a:p>
            <a:pPr indent="0" marL="0">
              <a:buNone/>
            </a:pPr>
            <a:r>
              <a:rPr lang="en-US" sz="1100" dirty="0">
                <a:solidFill>
                  <a:srgbClr val="9FB3D0"/>
                </a:solidFill>
                <a:latin typeface="Calibri" pitchFamily="34" charset="0"/>
                <a:ea typeface="Calibri" pitchFamily="34" charset="-122"/>
                <a:cs typeface="Calibri" pitchFamily="34" charset="-120"/>
              </a:rPr>
              <a:t>real spBLEU</a:t>
            </a:r>
            <a:endParaRPr lang="en-US" sz="1100" dirty="0"/>
          </a:p>
          <a:p>
            <a:pPr indent="0" marL="0">
              <a:buNone/>
            </a:pPr>
            <a:r>
              <a:rPr lang="en-US" sz="1100" dirty="0">
                <a:solidFill>
                  <a:srgbClr val="9FB3D0"/>
                </a:solidFill>
                <a:latin typeface="Calibri" pitchFamily="34" charset="0"/>
                <a:ea typeface="Calibri" pitchFamily="34" charset="-122"/>
                <a:cs typeface="Calibri" pitchFamily="34" charset="-120"/>
              </a:rPr>
              <a:t>offline regressed, not submitted</a:t>
            </a:r>
            <a:endParaRPr lang="en-US" sz="1100" dirty="0"/>
          </a:p>
        </p:txBody>
      </p:sp>
      <p:sp>
        <p:nvSpPr>
          <p:cNvPr id="24" name="Text 21"/>
          <p:cNvSpPr txBox="1"/>
          <p:nvPr/>
        </p:nvSpPr>
        <p:spPr>
          <a:xfrm>
            <a:off x="457200" y="5257800"/>
            <a:ext cx="112471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Reward auditing is not optional.  </a:t>
            </a:r>
            <a:pPr indent="0" marL="0">
              <a:buNone/>
            </a:pPr>
            <a:r>
              <a:rPr lang="en-US" sz="1500" dirty="0">
                <a:solidFill>
                  <a:srgbClr val="B8C4D6"/>
                </a:solidFill>
                <a:latin typeface="Calibri" pitchFamily="34" charset="0"/>
                <a:ea typeface="Calibri" pitchFamily="34" charset="-122"/>
                <a:cs typeface="Calibri" pitchFamily="34" charset="-120"/>
              </a:rPr>
              <a:t>And the objectives did not simply stack: continuing plain fine-tuning from B scored 27.51, below 28.04.</a:t>
            </a:r>
            <a:endParaRPr lang="en-US" sz="15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2C3FF"/>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SILENT FAILURES WE CAUGHT</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Bugs that raise no error</a:t>
            </a:r>
            <a:endParaRPr lang="en-US" sz="2800" dirty="0"/>
          </a:p>
        </p:txBody>
      </p:sp>
      <p:sp>
        <p:nvSpPr>
          <p:cNvPr id="5" name="Shape 2"/>
          <p:cNvSpPr/>
          <p:nvPr/>
        </p:nvSpPr>
        <p:spPr>
          <a:xfrm>
            <a:off x="457200" y="1600200"/>
            <a:ext cx="5532120" cy="2057400"/>
          </a:xfrm>
          <a:prstGeom prst="roundRect">
            <a:avLst>
              <a:gd name="adj" fmla="val 355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type_amber.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NLLB tokenizer</a:t>
            </a:r>
            <a:endParaRPr lang="en-US" sz="1400" dirty="0"/>
          </a:p>
        </p:txBody>
      </p:sp>
      <p:sp>
        <p:nvSpPr>
          <p:cNvPr id="8" name="Text 4"/>
          <p:cNvSpPr txBox="1"/>
          <p:nvPr/>
        </p:nvSpPr>
        <p:spPr>
          <a:xfrm>
            <a:off x="658368" y="2276856"/>
            <a:ext cx="5129784" cy="1380744"/>
          </a:xfrm>
          <a:prstGeom prst="rect">
            <a:avLst/>
          </a:prstGeom>
          <a:noFill/>
          <a:ln/>
        </p:spPr>
        <p:txBody>
          <a:bodyPr wrap="square" lIns="0" tIns="0" rIns="0" bIns="0" rtlCol="0" anchor="t"/>
          <a:lstStyle/>
          <a:p>
            <a:pPr indent="0" marL="0">
              <a:spcAft>
                <a:spcPts val="400"/>
              </a:spcAft>
              <a:buNone/>
            </a:pPr>
            <a:r>
              <a:rPr lang="en-US" sz="1300" dirty="0">
                <a:solidFill>
                  <a:srgbClr val="5A6472"/>
                </a:solidFill>
                <a:latin typeface="Calibri" pitchFamily="34" charset="0"/>
                <a:ea typeface="Calibri" pitchFamily="34" charset="-122"/>
                <a:cs typeface="Calibri" pitchFamily="34" charset="-120"/>
              </a:rPr>
              <a:t>Called with src_lang, the fast tokenizer omits the FLORES-200 source-language token (otherwise it appends a spurious one). We build [lang_id, content, eos] by hand at training and inference.</a:t>
            </a:r>
            <a:endParaRPr lang="en-US" sz="1300" dirty="0"/>
          </a:p>
        </p:txBody>
      </p:sp>
      <p:sp>
        <p:nvSpPr>
          <p:cNvPr id="9" name="Shape 5"/>
          <p:cNvSpPr/>
          <p:nvPr/>
        </p:nvSpPr>
        <p:spPr>
          <a:xfrm>
            <a:off x="6199632" y="1600200"/>
            <a:ext cx="5532120" cy="2057400"/>
          </a:xfrm>
          <a:prstGeom prst="roundRect">
            <a:avLst>
              <a:gd name="adj" fmla="val 355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hash_amber.png">    </p:cNvPr>
          <p:cNvPicPr>
            <a:picLocks noChangeAspect="1"/>
          </p:cNvPicPr>
          <p:nvPr/>
        </p:nvPicPr>
        <p:blipFill>
          <a:blip r:embed="rId2"/>
          <a:stretch>
            <a:fillRect/>
          </a:stretch>
        </p:blipFill>
        <p:spPr>
          <a:xfrm>
            <a:off x="6400800" y="1801368"/>
            <a:ext cx="329184" cy="329184"/>
          </a:xfrm>
          <a:prstGeom prst="rect">
            <a:avLst/>
          </a:prstGeom>
        </p:spPr>
      </p:pic>
      <p:sp>
        <p:nvSpPr>
          <p:cNvPr id="11" name="Text 6"/>
          <p:cNvSpPr txBox="1"/>
          <p:nvPr/>
        </p:nvSpPr>
        <p:spPr>
          <a:xfrm>
            <a:off x="6858000" y="179222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Tunisian artifact</a:t>
            </a:r>
            <a:endParaRPr lang="en-US" sz="1400" dirty="0"/>
          </a:p>
        </p:txBody>
      </p:sp>
      <p:sp>
        <p:nvSpPr>
          <p:cNvPr id="12" name="Text 7"/>
          <p:cNvSpPr txBox="1"/>
          <p:nvPr/>
        </p:nvSpPr>
        <p:spPr>
          <a:xfrm>
            <a:off x="6400800" y="2276856"/>
            <a:ext cx="5129784" cy="1380744"/>
          </a:xfrm>
          <a:prstGeom prst="rect">
            <a:avLst/>
          </a:prstGeom>
          <a:noFill/>
          <a:ln/>
        </p:spPr>
        <p:txBody>
          <a:bodyPr wrap="square" lIns="0" tIns="0" rIns="0" bIns="0" rtlCol="0" anchor="t"/>
          <a:lstStyle/>
          <a:p>
            <a:pPr indent="0" marL="0">
              <a:spcAft>
                <a:spcPts val="400"/>
              </a:spcAft>
              <a:buNone/>
            </a:pPr>
            <a:r>
              <a:rPr lang="en-US" sz="1300" dirty="0">
                <a:solidFill>
                  <a:srgbClr val="5A6472"/>
                </a:solidFill>
                <a:latin typeface="Calibri" pitchFamily="34" charset="0"/>
                <a:ea typeface="Calibri" pitchFamily="34" charset="-122"/>
                <a:cs typeface="Calibri" pitchFamily="34" charset="-120"/>
              </a:rPr>
              <a:t>29.4% of raw Tunisian rows carried a stray leading underscore; the model reproduced it in 35% of its Tunisian predictions. Stripped before corpus construction.</a:t>
            </a:r>
            <a:endParaRPr lang="en-US" sz="1300" dirty="0"/>
          </a:p>
        </p:txBody>
      </p:sp>
      <p:sp>
        <p:nvSpPr>
          <p:cNvPr id="13" name="Shape 8"/>
          <p:cNvSpPr/>
          <p:nvPr/>
        </p:nvSpPr>
        <p:spPr>
          <a:xfrm>
            <a:off x="457200" y="3840480"/>
            <a:ext cx="5532120" cy="2057400"/>
          </a:xfrm>
          <a:prstGeom prst="roundRect">
            <a:avLst>
              <a:gd name="adj" fmla="val 355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4" name="Image 2" descr="/home/aigca/ALEXIS/Posters/build/pptx/icons/snowflake_amber.png">    </p:cNvPr>
          <p:cNvPicPr>
            <a:picLocks noChangeAspect="1"/>
          </p:cNvPicPr>
          <p:nvPr/>
        </p:nvPicPr>
        <p:blipFill>
          <a:blip r:embed="rId3"/>
          <a:stretch>
            <a:fillRect/>
          </a:stretch>
        </p:blipFill>
        <p:spPr>
          <a:xfrm>
            <a:off x="658368" y="4041648"/>
            <a:ext cx="329184" cy="329184"/>
          </a:xfrm>
          <a:prstGeom prst="rect">
            <a:avLst/>
          </a:prstGeom>
        </p:spPr>
      </p:pic>
      <p:sp>
        <p:nvSpPr>
          <p:cNvPr id="15" name="Text 9"/>
          <p:cNvSpPr txBox="1"/>
          <p:nvPr/>
        </p:nvSpPr>
        <p:spPr>
          <a:xfrm>
            <a:off x="1115568" y="403250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peft merge-then-finetune</a:t>
            </a:r>
            <a:endParaRPr lang="en-US" sz="1400" dirty="0"/>
          </a:p>
        </p:txBody>
      </p:sp>
      <p:sp>
        <p:nvSpPr>
          <p:cNvPr id="16" name="Text 10"/>
          <p:cNvSpPr txBox="1"/>
          <p:nvPr/>
        </p:nvSpPr>
        <p:spPr>
          <a:xfrm>
            <a:off x="658368" y="4517136"/>
            <a:ext cx="5129784" cy="1380744"/>
          </a:xfrm>
          <a:prstGeom prst="rect">
            <a:avLst/>
          </a:prstGeom>
          <a:noFill/>
          <a:ln/>
        </p:spPr>
        <p:txBody>
          <a:bodyPr wrap="square" lIns="0" tIns="0" rIns="0" bIns="0" rtlCol="0" anchor="t"/>
          <a:lstStyle/>
          <a:p>
            <a:pPr indent="0" marL="0">
              <a:spcAft>
                <a:spcPts val="400"/>
              </a:spcAft>
              <a:buNone/>
            </a:pPr>
            <a:r>
              <a:rPr lang="en-US" sz="1300" dirty="0">
                <a:solidFill>
                  <a:srgbClr val="5A6472"/>
                </a:solidFill>
                <a:latin typeface="Calibri" pitchFamily="34" charset="0"/>
                <a:ea typeface="Calibri" pitchFamily="34" charset="-122"/>
                <a:cs typeface="Calibri" pitchFamily="34" charset="-120"/>
              </a:rPr>
              <a:t>merge_and_unload() leaves merged weights frozen: the first full fine-tune trained nothing for two epochs (checkpoint byte-identical by checksum). Fix: requires_grad_(True) plus a trainable-parameter assertion.</a:t>
            </a:r>
            <a:endParaRPr lang="en-US" sz="1300" dirty="0"/>
          </a:p>
        </p:txBody>
      </p:sp>
      <p:sp>
        <p:nvSpPr>
          <p:cNvPr id="17" name="Shape 11"/>
          <p:cNvSpPr/>
          <p:nvPr/>
        </p:nvSpPr>
        <p:spPr>
          <a:xfrm>
            <a:off x="6199632" y="3840480"/>
            <a:ext cx="5532120" cy="2057400"/>
          </a:xfrm>
          <a:prstGeom prst="roundRect">
            <a:avLst>
              <a:gd name="adj" fmla="val 355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8" name="Image 3" descr="/home/aigca/ALEXIS/Posters/build/pptx/icons/bug_amber.png">    </p:cNvPr>
          <p:cNvPicPr>
            <a:picLocks noChangeAspect="1"/>
          </p:cNvPicPr>
          <p:nvPr/>
        </p:nvPicPr>
        <p:blipFill>
          <a:blip r:embed="rId4"/>
          <a:stretch>
            <a:fillRect/>
          </a:stretch>
        </p:blipFill>
        <p:spPr>
          <a:xfrm>
            <a:off x="6400800" y="4041648"/>
            <a:ext cx="329184" cy="329184"/>
          </a:xfrm>
          <a:prstGeom prst="rect">
            <a:avLst/>
          </a:prstGeom>
        </p:spPr>
      </p:pic>
      <p:sp>
        <p:nvSpPr>
          <p:cNvPr id="19" name="Text 12"/>
          <p:cNvSpPr txBox="1"/>
          <p:nvPr/>
        </p:nvSpPr>
        <p:spPr>
          <a:xfrm>
            <a:off x="6858000" y="403250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bf16 DPO at learning rate 1e-5</a:t>
            </a:r>
            <a:endParaRPr lang="en-US" sz="1400" dirty="0"/>
          </a:p>
        </p:txBody>
      </p:sp>
      <p:sp>
        <p:nvSpPr>
          <p:cNvPr id="20" name="Text 13"/>
          <p:cNvSpPr txBox="1"/>
          <p:nvPr/>
        </p:nvSpPr>
        <p:spPr>
          <a:xfrm>
            <a:off x="6400800" y="4517136"/>
            <a:ext cx="5129784" cy="1380744"/>
          </a:xfrm>
          <a:prstGeom prst="rect">
            <a:avLst/>
          </a:prstGeom>
          <a:noFill/>
          <a:ln/>
        </p:spPr>
        <p:txBody>
          <a:bodyPr wrap="square" lIns="0" tIns="0" rIns="0" bIns="0" rtlCol="0" anchor="t"/>
          <a:lstStyle/>
          <a:p>
            <a:pPr indent="0" marL="0">
              <a:spcAft>
                <a:spcPts val="400"/>
              </a:spcAft>
              <a:buNone/>
            </a:pPr>
            <a:r>
              <a:rPr lang="en-US" sz="1300" dirty="0">
                <a:solidFill>
                  <a:srgbClr val="5A6472"/>
                </a:solidFill>
                <a:latin typeface="Calibri" pitchFamily="34" charset="0"/>
                <a:ea typeface="Calibri" pitchFamily="34" charset="-122"/>
                <a:cs typeface="Calibri" pitchFamily="34" charset="-120"/>
              </a:rPr>
              <a:t>Log-probability updates can fall below bf16’s precision floor, silently making training a no-op. All DPO runs use fp32.</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TRIED AND REJECTED</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Clean negative results</a:t>
            </a:r>
            <a:endParaRPr lang="en-US" sz="2800" dirty="0"/>
          </a:p>
        </p:txBody>
      </p:sp>
      <p:sp>
        <p:nvSpPr>
          <p:cNvPr id="5" name="Shape 2"/>
          <p:cNvSpPr/>
          <p:nvPr/>
        </p:nvSpPr>
        <p:spPr>
          <a:xfrm>
            <a:off x="457200" y="160020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shuffle_red.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MSA-pivot decoding</a:t>
            </a:r>
            <a:endParaRPr lang="en-US" sz="1300" dirty="0"/>
          </a:p>
        </p:txBody>
      </p:sp>
      <p:sp>
        <p:nvSpPr>
          <p:cNvPr id="8" name="Text 4"/>
          <p:cNvSpPr txBox="1"/>
          <p:nvPr/>
        </p:nvSpPr>
        <p:spPr>
          <a:xfrm>
            <a:off x="658368" y="227685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Lost to direct decoding in 11 of 12 non-MSA directions.</a:t>
            </a:r>
            <a:endParaRPr lang="en-US" sz="1250" dirty="0"/>
          </a:p>
        </p:txBody>
      </p:sp>
      <p:sp>
        <p:nvSpPr>
          <p:cNvPr id="9" name="Shape 5"/>
          <p:cNvSpPr/>
          <p:nvPr/>
        </p:nvSpPr>
        <p:spPr>
          <a:xfrm>
            <a:off x="4279392" y="160020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list_red.png">    </p:cNvPr>
          <p:cNvPicPr>
            <a:picLocks noChangeAspect="1"/>
          </p:cNvPicPr>
          <p:nvPr/>
        </p:nvPicPr>
        <p:blipFill>
          <a:blip r:embed="rId2"/>
          <a:stretch>
            <a:fillRect/>
          </a:stretch>
        </p:blipFill>
        <p:spPr>
          <a:xfrm>
            <a:off x="4480560" y="1801368"/>
            <a:ext cx="329184" cy="329184"/>
          </a:xfrm>
          <a:prstGeom prst="rect">
            <a:avLst/>
          </a:prstGeom>
        </p:spPr>
      </p:pic>
      <p:sp>
        <p:nvSpPr>
          <p:cNvPr id="11" name="Text 6"/>
          <p:cNvSpPr txBox="1"/>
          <p:nvPr/>
        </p:nvSpPr>
        <p:spPr>
          <a:xfrm>
            <a:off x="4937760" y="179222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Diverse-beam MBR reranking</a:t>
            </a:r>
            <a:endParaRPr lang="en-US" sz="1300" dirty="0"/>
          </a:p>
        </p:txBody>
      </p:sp>
      <p:sp>
        <p:nvSpPr>
          <p:cNvPr id="12" name="Text 7"/>
          <p:cNvSpPr txBox="1"/>
          <p:nvPr/>
        </p:nvSpPr>
        <p:spPr>
          <a:xfrm>
            <a:off x="4480560" y="227685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Improved 8 of 20 directions: noise level.</a:t>
            </a:r>
            <a:endParaRPr lang="en-US" sz="1250" dirty="0"/>
          </a:p>
        </p:txBody>
      </p:sp>
      <p:sp>
        <p:nvSpPr>
          <p:cNvPr id="13" name="Shape 8"/>
          <p:cNvSpPr/>
          <p:nvPr/>
        </p:nvSpPr>
        <p:spPr>
          <a:xfrm>
            <a:off x="8101584" y="160020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4" name="Image 2" descr="/home/aigca/ALEXIS/Posters/build/pptx/icons/users_red.png">    </p:cNvPr>
          <p:cNvPicPr>
            <a:picLocks noChangeAspect="1"/>
          </p:cNvPicPr>
          <p:nvPr/>
        </p:nvPicPr>
        <p:blipFill>
          <a:blip r:embed="rId3"/>
          <a:stretch>
            <a:fillRect/>
          </a:stretch>
        </p:blipFill>
        <p:spPr>
          <a:xfrm>
            <a:off x="8302752" y="1801368"/>
            <a:ext cx="329184" cy="329184"/>
          </a:xfrm>
          <a:prstGeom prst="rect">
            <a:avLst/>
          </a:prstGeom>
        </p:spPr>
      </p:pic>
      <p:sp>
        <p:nvSpPr>
          <p:cNvPr id="15" name="Text 9"/>
          <p:cNvSpPr txBox="1"/>
          <p:nvPr/>
        </p:nvSpPr>
        <p:spPr>
          <a:xfrm>
            <a:off x="8759952" y="179222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Cross-model consensus reranking</a:t>
            </a:r>
            <a:endParaRPr lang="en-US" sz="1300" dirty="0"/>
          </a:p>
        </p:txBody>
      </p:sp>
      <p:sp>
        <p:nvSpPr>
          <p:cNvPr id="16" name="Text 10"/>
          <p:cNvSpPr txBox="1"/>
          <p:nvPr/>
        </p:nvSpPr>
        <p:spPr>
          <a:xfrm>
            <a:off x="8302752" y="227685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Failed: the weaker model was wrong more often, so trusting disagreement meant trusting it.</a:t>
            </a:r>
            <a:endParaRPr lang="en-US" sz="1250" dirty="0"/>
          </a:p>
        </p:txBody>
      </p:sp>
      <p:sp>
        <p:nvSpPr>
          <p:cNvPr id="17" name="Shape 11"/>
          <p:cNvSpPr/>
          <p:nvPr/>
        </p:nvSpPr>
        <p:spPr>
          <a:xfrm>
            <a:off x="457200" y="361188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8" name="Image 3" descr="/home/aigca/ALEXIS/Posters/build/pptx/icons/sliders_red.png">    </p:cNvPr>
          <p:cNvPicPr>
            <a:picLocks noChangeAspect="1"/>
          </p:cNvPicPr>
          <p:nvPr/>
        </p:nvPicPr>
        <p:blipFill>
          <a:blip r:embed="rId4"/>
          <a:stretch>
            <a:fillRect/>
          </a:stretch>
        </p:blipFill>
        <p:spPr>
          <a:xfrm>
            <a:off x="658368" y="3813048"/>
            <a:ext cx="329184" cy="329184"/>
          </a:xfrm>
          <a:prstGeom prst="rect">
            <a:avLst/>
          </a:prstGeom>
        </p:spPr>
      </p:pic>
      <p:sp>
        <p:nvSpPr>
          <p:cNvPr id="19" name="Text 12"/>
          <p:cNvSpPr txBox="1"/>
          <p:nvPr/>
        </p:nvSpPr>
        <p:spPr>
          <a:xfrm>
            <a:off x="1115568" y="380390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Decode hyperparameter sweep</a:t>
            </a:r>
            <a:endParaRPr lang="en-US" sz="1300" dirty="0"/>
          </a:p>
        </p:txBody>
      </p:sp>
      <p:sp>
        <p:nvSpPr>
          <p:cNvPr id="20" name="Text 13"/>
          <p:cNvSpPr txBox="1"/>
          <p:nvPr/>
        </p:nvSpPr>
        <p:spPr>
          <a:xfrm>
            <a:off x="658368" y="428853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Best alternative beat the default by ≈0.02 spBLEU.</a:t>
            </a:r>
            <a:endParaRPr lang="en-US" sz="1250" dirty="0"/>
          </a:p>
        </p:txBody>
      </p:sp>
      <p:sp>
        <p:nvSpPr>
          <p:cNvPr id="21" name="Shape 14"/>
          <p:cNvSpPr/>
          <p:nvPr/>
        </p:nvSpPr>
        <p:spPr>
          <a:xfrm>
            <a:off x="4279392" y="361188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2" name="Image 4" descr="/home/aigca/ALEXIS/Posters/build/pptx/icons/combine_red.png">    </p:cNvPr>
          <p:cNvPicPr>
            <a:picLocks noChangeAspect="1"/>
          </p:cNvPicPr>
          <p:nvPr/>
        </p:nvPicPr>
        <p:blipFill>
          <a:blip r:embed="rId5"/>
          <a:stretch>
            <a:fillRect/>
          </a:stretch>
        </p:blipFill>
        <p:spPr>
          <a:xfrm>
            <a:off x="4480560" y="3813048"/>
            <a:ext cx="329184" cy="329184"/>
          </a:xfrm>
          <a:prstGeom prst="rect">
            <a:avLst/>
          </a:prstGeom>
        </p:spPr>
      </p:pic>
      <p:sp>
        <p:nvSpPr>
          <p:cNvPr id="23" name="Text 15"/>
          <p:cNvSpPr txBox="1"/>
          <p:nvPr/>
        </p:nvSpPr>
        <p:spPr>
          <a:xfrm>
            <a:off x="4937760" y="380390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Checkpoint averaging and model soups</a:t>
            </a:r>
            <a:endParaRPr lang="en-US" sz="1300" dirty="0"/>
          </a:p>
        </p:txBody>
      </p:sp>
      <p:sp>
        <p:nvSpPr>
          <p:cNvPr id="24" name="Text 16"/>
          <p:cNvSpPr txBox="1"/>
          <p:nvPr/>
        </p:nvSpPr>
        <p:spPr>
          <a:xfrm>
            <a:off x="4480560" y="428853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Never beat the single best checkpoint; greedy soups reduced to their own input.</a:t>
            </a:r>
            <a:endParaRPr lang="en-US" sz="1250" dirty="0"/>
          </a:p>
        </p:txBody>
      </p:sp>
      <p:sp>
        <p:nvSpPr>
          <p:cNvPr id="25" name="Shape 17"/>
          <p:cNvSpPr/>
          <p:nvPr/>
        </p:nvSpPr>
        <p:spPr>
          <a:xfrm>
            <a:off x="8101584" y="3611880"/>
            <a:ext cx="3611880" cy="1828800"/>
          </a:xfrm>
          <a:prstGeom prst="roundRect">
            <a:avLst>
              <a:gd name="adj" fmla="val 40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6" name="Image 5" descr="/home/aigca/ALEXIS/Posters/build/pptx/icons/search_red.png">    </p:cNvPr>
          <p:cNvPicPr>
            <a:picLocks noChangeAspect="1"/>
          </p:cNvPicPr>
          <p:nvPr/>
        </p:nvPicPr>
        <p:blipFill>
          <a:blip r:embed="rId6"/>
          <a:stretch>
            <a:fillRect/>
          </a:stretch>
        </p:blipFill>
        <p:spPr>
          <a:xfrm>
            <a:off x="8302752" y="3813048"/>
            <a:ext cx="329184" cy="329184"/>
          </a:xfrm>
          <a:prstGeom prst="rect">
            <a:avLst/>
          </a:prstGeom>
        </p:spPr>
      </p:pic>
      <p:sp>
        <p:nvSpPr>
          <p:cNvPr id="27" name="Text 18"/>
          <p:cNvSpPr txBox="1"/>
          <p:nvPr/>
        </p:nvSpPr>
        <p:spPr>
          <a:xfrm>
            <a:off x="8759952" y="3803904"/>
            <a:ext cx="2752344" cy="365760"/>
          </a:xfrm>
          <a:prstGeom prst="rect">
            <a:avLst/>
          </a:prstGeom>
          <a:noFill/>
          <a:ln/>
        </p:spPr>
        <p:txBody>
          <a:bodyPr wrap="square" lIns="0" tIns="0" rIns="0" bIns="0" rtlCol="0" anchor="ctr"/>
          <a:lstStyle/>
          <a:p>
            <a:pPr indent="0" marL="0">
              <a:buNone/>
            </a:pPr>
            <a:r>
              <a:rPr lang="en-US" sz="1300" b="1" dirty="0">
                <a:solidFill>
                  <a:srgbClr val="0D1117"/>
                </a:solidFill>
                <a:latin typeface="Arial" pitchFamily="34" charset="0"/>
                <a:ea typeface="Arial" pitchFamily="34" charset="-122"/>
                <a:cs typeface="Arial" pitchFamily="34" charset="-120"/>
              </a:rPr>
              <a:t>Exact-match retrieval</a:t>
            </a:r>
            <a:endParaRPr lang="en-US" sz="1300" dirty="0"/>
          </a:p>
        </p:txBody>
      </p:sp>
      <p:sp>
        <p:nvSpPr>
          <p:cNvPr id="28" name="Text 19"/>
          <p:cNvSpPr txBox="1"/>
          <p:nvPr/>
        </p:nvSpPr>
        <p:spPr>
          <a:xfrm>
            <a:off x="8302752" y="4288536"/>
            <a:ext cx="3209544" cy="115214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39% of test sources match a training source verbatim, but none from the gold tier: substitution risked harm.</a:t>
            </a:r>
            <a:endParaRPr lang="en-US" sz="1250" dirty="0"/>
          </a:p>
        </p:txBody>
      </p:sp>
      <p:sp>
        <p:nvSpPr>
          <p:cNvPr id="29" name="Shape 20"/>
          <p:cNvSpPr/>
          <p:nvPr/>
        </p:nvSpPr>
        <p:spPr>
          <a:xfrm>
            <a:off x="457200" y="5760720"/>
            <a:ext cx="11274552" cy="457200"/>
          </a:xfrm>
          <a:prstGeom prst="roundRect">
            <a:avLst>
              <a:gd name="adj" fmla="val 16000"/>
            </a:avLst>
          </a:prstGeom>
          <a:solidFill>
            <a:srgbClr val="EAF1FF"/>
          </a:solidFill>
          <a:ln w="9525">
            <a:solidFill>
              <a:srgbClr val="C9DAFD"/>
            </a:solidFill>
            <a:prstDash val="solid"/>
          </a:ln>
        </p:spPr>
      </p:sp>
      <p:pic>
        <p:nvPicPr>
          <p:cNvPr id="30" name="Image 6" descr="/home/aigca/ALEXIS/Posters/build/pptx/icons/check_blue.png">    </p:cNvPr>
          <p:cNvPicPr>
            <a:picLocks noChangeAspect="1"/>
          </p:cNvPicPr>
          <p:nvPr/>
        </p:nvPicPr>
        <p:blipFill>
          <a:blip r:embed="rId7"/>
          <a:stretch>
            <a:fillRect/>
          </a:stretch>
        </p:blipFill>
        <p:spPr>
          <a:xfrm>
            <a:off x="640080" y="5852160"/>
            <a:ext cx="274320" cy="274320"/>
          </a:xfrm>
          <a:prstGeom prst="rect">
            <a:avLst/>
          </a:prstGeom>
        </p:spPr>
      </p:pic>
      <p:sp>
        <p:nvSpPr>
          <p:cNvPr id="31" name="Text 21"/>
          <p:cNvSpPr txBox="1"/>
          <p:nvPr/>
        </p:nvSpPr>
        <p:spPr>
          <a:xfrm>
            <a:off x="1051560" y="5760720"/>
            <a:ext cx="10497312" cy="45720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Each was rejected by real leaderboard evidence, not by an offline proxy.</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SUBMISSION HISTORY</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Key milestones of 24 real submissions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7589520" cy="914400"/>
        </p:xfrm>
        <a:graphic>
          <a:graphicData uri="http://schemas.openxmlformats.org/drawingml/2006/table">
            <a:tbl>
              <a:tblPr/>
              <a:tblGrid>
                <a:gridCol w="4663440"/>
                <a:gridCol w="1463040"/>
                <a:gridCol w="1463040"/>
              </a:tblGrid>
              <a:tr h="393192">
                <a:tc>
                  <a:txBody>
                    <a:bodyPr/>
                    <a:lstStyle/>
                    <a:p>
                      <a:pPr algn="l" indent="0" marL="0">
                        <a:buNone/>
                      </a:pPr>
                      <a:r>
                        <a:rPr lang="en-US" sz="1250" b="1" spc="50" kern="0" dirty="0">
                          <a:solidFill>
                            <a:srgbClr val="FFFFFF"/>
                          </a:solidFill>
                          <a:latin typeface="Arial" pitchFamily="34" charset="0"/>
                          <a:ea typeface="Arial" pitchFamily="34" charset="-122"/>
                          <a:cs typeface="Arial" pitchFamily="34" charset="-120"/>
                        </a:rPr>
                        <a:t>System iteration</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250" b="1" spc="50" kern="0" dirty="0">
                          <a:solidFill>
                            <a:srgbClr val="FFFFFF"/>
                          </a:solidFill>
                          <a:latin typeface="Arial" pitchFamily="34" charset="0"/>
                          <a:ea typeface="Arial" pitchFamily="34" charset="-122"/>
                          <a:cs typeface="Arial" pitchFamily="34" charset="-120"/>
                        </a:rPr>
                        <a:t>spBLEU</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250" b="1" spc="50" kern="0" dirty="0">
                          <a:solidFill>
                            <a:srgbClr val="FFFFFF"/>
                          </a:solidFill>
                          <a:latin typeface="Arial" pitchFamily="34" charset="0"/>
                          <a:ea typeface="Arial" pitchFamily="34" charset="-122"/>
                          <a:cs typeface="Arial" pitchFamily="34" charset="-120"/>
                        </a:rPr>
                        <a:t>chrF++</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Baseline LoRA (r = 16)</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19.536</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35.010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Expanded LoRA (r = 64)</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23.088</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37.440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Full fine-tune (init.)</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23.727</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37.730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Full fine-tune (+2 epochs)</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24.440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38.259</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b="1" dirty="0">
                          <a:solidFill>
                            <a:srgbClr val="0D1117"/>
                          </a:solidFill>
                          <a:latin typeface="Calibri" pitchFamily="34" charset="0"/>
                          <a:ea typeface="Calibri" pitchFamily="34" charset="-122"/>
                          <a:cs typeface="Calibri" pitchFamily="34" charset="-120"/>
                        </a:rPr>
                        <a:t>FT, extended (official submission)</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c>
                  <a:txBody>
                    <a:bodyPr/>
                    <a:lstStyle/>
                    <a:p>
                      <a:pPr algn="r" indent="0" marL="0">
                        <a:buNone/>
                      </a:pPr>
                      <a:r>
                        <a:rPr lang="en-US" sz="1400" b="1" dirty="0">
                          <a:solidFill>
                            <a:srgbClr val="0D1117"/>
                          </a:solidFill>
                          <a:latin typeface="Calibri" pitchFamily="34" charset="0"/>
                          <a:ea typeface="Calibri" pitchFamily="34" charset="-122"/>
                          <a:cs typeface="Calibri" pitchFamily="34" charset="-120"/>
                        </a:rPr>
                        <a:t>25.840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c>
                  <a:txBody>
                    <a:bodyPr/>
                    <a:lstStyle/>
                    <a:p>
                      <a:pPr algn="r" indent="0" marL="0">
                        <a:buNone/>
                      </a:pPr>
                      <a:r>
                        <a:rPr lang="en-US" sz="1400" b="1" dirty="0">
                          <a:solidFill>
                            <a:srgbClr val="0D1117"/>
                          </a:solidFill>
                          <a:latin typeface="Calibri" pitchFamily="34" charset="0"/>
                          <a:ea typeface="Calibri" pitchFamily="34" charset="-122"/>
                          <a:cs typeface="Calibri" pitchFamily="34" charset="-120"/>
                        </a:rPr>
                        <a:t>39.019</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FT, extended (ep. 12)  †</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26.565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39.610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FT, extended II (ep. 22)  †</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27.894</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40.538</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DPO Config A  †</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25.017</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39.136</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b="1" dirty="0">
                          <a:solidFill>
                            <a:srgbClr val="1553CC"/>
                          </a:solidFill>
                          <a:latin typeface="Calibri" pitchFamily="34" charset="0"/>
                          <a:ea typeface="Calibri" pitchFamily="34" charset="-122"/>
                          <a:cs typeface="Calibri" pitchFamily="34" charset="-120"/>
                        </a:rPr>
                        <a:t>DPO Config B (best)  †</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400" b="1" dirty="0">
                          <a:solidFill>
                            <a:srgbClr val="1553CC"/>
                          </a:solidFill>
                          <a:latin typeface="Calibri" pitchFamily="34" charset="0"/>
                          <a:ea typeface="Calibri" pitchFamily="34" charset="-122"/>
                          <a:cs typeface="Calibri" pitchFamily="34" charset="-120"/>
                        </a:rPr>
                        <a:t>28.042</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400" b="1" dirty="0">
                          <a:solidFill>
                            <a:srgbClr val="1553CC"/>
                          </a:solidFill>
                          <a:latin typeface="Calibri" pitchFamily="34" charset="0"/>
                          <a:ea typeface="Calibri" pitchFamily="34" charset="-122"/>
                          <a:cs typeface="Calibri" pitchFamily="34" charset="-120"/>
                        </a:rPr>
                        <a:t>40.774</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r>
            </a:tbl>
          </a:graphicData>
        </a:graphic>
      </p:graphicFrame>
      <p:sp>
        <p:nvSpPr>
          <p:cNvPr id="6" name="Text 2"/>
          <p:cNvSpPr txBox="1"/>
          <p:nvPr/>
        </p:nvSpPr>
        <p:spPr>
          <a:xfrm>
            <a:off x="457200" y="5669280"/>
            <a:ext cx="7589520" cy="32004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 post-evaluation phase: scored on Codabench after the official deadline, not eligible for the ranking.</a:t>
            </a:r>
            <a:endParaRPr lang="en-US" sz="1100" dirty="0"/>
          </a:p>
        </p:txBody>
      </p:sp>
      <p:sp>
        <p:nvSpPr>
          <p:cNvPr id="7" name="Shape 3"/>
          <p:cNvSpPr/>
          <p:nvPr/>
        </p:nvSpPr>
        <p:spPr>
          <a:xfrm>
            <a:off x="8321040" y="1600200"/>
            <a:ext cx="3410712" cy="3931920"/>
          </a:xfrm>
          <a:prstGeom prst="roundRect">
            <a:avLst>
              <a:gd name="adj" fmla="val 2145"/>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8" name="Image 0" descr="/home/aigca/ALEXIS/Posters/build/pptx/icons/sliders_blue.png">    </p:cNvPr>
          <p:cNvPicPr>
            <a:picLocks noChangeAspect="1"/>
          </p:cNvPicPr>
          <p:nvPr/>
        </p:nvPicPr>
        <p:blipFill>
          <a:blip r:embed="rId1"/>
          <a:stretch>
            <a:fillRect/>
          </a:stretch>
        </p:blipFill>
        <p:spPr>
          <a:xfrm>
            <a:off x="8549640" y="1810512"/>
            <a:ext cx="310896" cy="310896"/>
          </a:xfrm>
          <a:prstGeom prst="rect">
            <a:avLst/>
          </a:prstGeom>
        </p:spPr>
      </p:pic>
      <p:sp>
        <p:nvSpPr>
          <p:cNvPr id="9" name="Text 4"/>
          <p:cNvSpPr txBox="1"/>
          <p:nvPr/>
        </p:nvSpPr>
        <p:spPr>
          <a:xfrm>
            <a:off x="8961120" y="1801368"/>
            <a:ext cx="2560320" cy="347472"/>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Setup</a:t>
            </a:r>
            <a:endParaRPr lang="en-US" sz="1400" dirty="0"/>
          </a:p>
        </p:txBody>
      </p:sp>
      <p:sp>
        <p:nvSpPr>
          <p:cNvPr id="10" name="Text 5"/>
          <p:cNvSpPr txBox="1"/>
          <p:nvPr/>
        </p:nvSpPr>
        <p:spPr>
          <a:xfrm>
            <a:off x="8549640" y="2331720"/>
            <a:ext cx="3017520" cy="3108960"/>
          </a:xfrm>
          <a:prstGeom prst="rect">
            <a:avLst/>
          </a:prstGeom>
          <a:noFill/>
          <a:ln/>
        </p:spPr>
        <p:txBody>
          <a:bodyPr wrap="square" lIns="0" tIns="0" rIns="0" bIns="0" rtlCol="0" anchor="t"/>
          <a:lstStyle/>
          <a:p>
            <a:pPr indent="0" marL="0">
              <a:spcAft>
                <a:spcPts val="800"/>
              </a:spcAft>
              <a:buNone/>
            </a:pPr>
            <a:r>
              <a:rPr lang="en-US" sz="1250" b="1" dirty="0">
                <a:solidFill>
                  <a:srgbClr val="0D1117"/>
                </a:solidFill>
                <a:latin typeface="Calibri" pitchFamily="34" charset="0"/>
                <a:ea typeface="Calibri" pitchFamily="34" charset="-122"/>
                <a:cs typeface="Calibri" pitchFamily="34" charset="-120"/>
              </a:rPr>
              <a:t>LoRA: </a:t>
            </a:r>
            <a:pPr indent="0" marL="0">
              <a:spcAft>
                <a:spcPts val="800"/>
              </a:spcAft>
              <a:buNone/>
            </a:pPr>
            <a:r>
              <a:rPr lang="en-US" sz="1250" dirty="0">
                <a:solidFill>
                  <a:srgbClr val="5A6472"/>
                </a:solidFill>
                <a:latin typeface="Calibri" pitchFamily="34" charset="0"/>
                <a:ea typeface="Calibri" pitchFamily="34" charset="-122"/>
                <a:cs typeface="Calibri" pitchFamily="34" charset="-120"/>
              </a:rPr>
              <a:t>r ∈ {16, 32, 64}, ≤ 8 epochs, lr 1e-4</a:t>
            </a:r>
            <a:endParaRPr lang="en-US" sz="1250" dirty="0"/>
          </a:p>
          <a:p>
            <a:pPr indent="0" marL="0">
              <a:spcAft>
                <a:spcPts val="800"/>
              </a:spcAft>
              <a:buNone/>
            </a:pPr>
            <a:r>
              <a:rPr lang="en-US" sz="1250" b="1" dirty="0">
                <a:solidFill>
                  <a:srgbClr val="0D1117"/>
                </a:solidFill>
                <a:latin typeface="Calibri" pitchFamily="34" charset="0"/>
                <a:ea typeface="Calibri" pitchFamily="34" charset="-122"/>
                <a:cs typeface="Calibri" pitchFamily="34" charset="-120"/>
              </a:rPr>
              <a:t>Full FT: </a:t>
            </a:r>
            <a:pPr indent="0" marL="0">
              <a:spcAft>
                <a:spcPts val="800"/>
              </a:spcAft>
              <a:buNone/>
            </a:pPr>
            <a:r>
              <a:rPr lang="en-US" sz="1250" dirty="0">
                <a:solidFill>
                  <a:srgbClr val="5A6472"/>
                </a:solidFill>
                <a:latin typeface="Calibri" pitchFamily="34" charset="0"/>
                <a:ea typeface="Calibri" pitchFamily="34" charset="-122"/>
                <a:cs typeface="Calibri" pitchFamily="34" charset="-120"/>
              </a:rPr>
              <a:t>effective batch 32, lr 3e-5, bf16, early stopping (patience 2)</a:t>
            </a:r>
            <a:endParaRPr lang="en-US" sz="1250" dirty="0"/>
          </a:p>
          <a:p>
            <a:pPr indent="0" marL="0">
              <a:spcAft>
                <a:spcPts val="800"/>
              </a:spcAft>
              <a:buNone/>
            </a:pPr>
            <a:r>
              <a:rPr lang="en-US" sz="1250" b="1" dirty="0">
                <a:solidFill>
                  <a:srgbClr val="0D1117"/>
                </a:solidFill>
                <a:latin typeface="Calibri" pitchFamily="34" charset="0"/>
                <a:ea typeface="Calibri" pitchFamily="34" charset="-122"/>
                <a:cs typeface="Calibri" pitchFamily="34" charset="-120"/>
              </a:rPr>
              <a:t>DPO: </a:t>
            </a:r>
            <a:pPr indent="0" marL="0">
              <a:spcAft>
                <a:spcPts val="800"/>
              </a:spcAft>
              <a:buNone/>
            </a:pPr>
            <a:r>
              <a:rPr lang="en-US" sz="1250" dirty="0">
                <a:solidFill>
                  <a:srgbClr val="5A6472"/>
                </a:solidFill>
                <a:latin typeface="Calibri" pitchFamily="34" charset="0"/>
                <a:ea typeface="Calibri" pitchFamily="34" charset="-122"/>
                <a:cs typeface="Calibri" pitchFamily="34" charset="-120"/>
              </a:rPr>
              <a:t>lr 1e-5, β ∈ {0.1, 0.3}, batch 6, 7 epochs, fp32</a:t>
            </a:r>
            <a:endParaRPr lang="en-US" sz="1250" dirty="0"/>
          </a:p>
          <a:p>
            <a:pPr indent="0" marL="0">
              <a:spcAft>
                <a:spcPts val="800"/>
              </a:spcAft>
              <a:buNone/>
            </a:pPr>
            <a:r>
              <a:rPr lang="en-US" sz="1250" b="1" dirty="0">
                <a:solidFill>
                  <a:srgbClr val="0D1117"/>
                </a:solidFill>
                <a:latin typeface="Calibri" pitchFamily="34" charset="0"/>
                <a:ea typeface="Calibri" pitchFamily="34" charset="-122"/>
                <a:cs typeface="Calibri" pitchFamily="34" charset="-120"/>
              </a:rPr>
              <a:t>Decoding: </a:t>
            </a:r>
            <a:pPr indent="0" marL="0">
              <a:spcAft>
                <a:spcPts val="800"/>
              </a:spcAft>
              <a:buNone/>
            </a:pPr>
            <a:r>
              <a:rPr lang="en-US" sz="1250" dirty="0">
                <a:solidFill>
                  <a:srgbClr val="5A6472"/>
                </a:solidFill>
                <a:latin typeface="Calibri" pitchFamily="34" charset="0"/>
                <a:ea typeface="Calibri" pitchFamily="34" charset="-122"/>
                <a:cs typeface="Calibri" pitchFamily="34" charset="-120"/>
              </a:rPr>
              <a:t>beam 4, no-repeat 3-gram, repetition penalty 1.3</a:t>
            </a:r>
            <a:endParaRPr lang="en-US" sz="12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CONCLUSION</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What to take away</a:t>
            </a:r>
            <a:endParaRPr lang="en-US" sz="2800" dirty="0"/>
          </a:p>
        </p:txBody>
      </p:sp>
      <p:sp>
        <p:nvSpPr>
          <p:cNvPr id="5" name="Shape 2"/>
          <p:cNvSpPr/>
          <p:nvPr/>
        </p:nvSpPr>
        <p:spPr>
          <a:xfrm>
            <a:off x="457200" y="1600200"/>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layers_blue.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Test capacity when data returns slow</a:t>
            </a:r>
            <a:endParaRPr lang="en-US" sz="1400" dirty="0"/>
          </a:p>
        </p:txBody>
      </p:sp>
      <p:sp>
        <p:nvSpPr>
          <p:cNvPr id="8" name="Text 4"/>
          <p:cNvSpPr txBox="1"/>
          <p:nvPr/>
        </p:nvSpPr>
        <p:spPr>
          <a:xfrm>
            <a:off x="658368" y="2276856"/>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When a data recipe’s gains decelerate, test model capacity as an independent lever before assuming more data tuning is the answer.</a:t>
            </a:r>
            <a:endParaRPr lang="en-US" sz="1250" dirty="0"/>
          </a:p>
        </p:txBody>
      </p:sp>
      <p:sp>
        <p:nvSpPr>
          <p:cNvPr id="9" name="Shape 5"/>
          <p:cNvSpPr/>
          <p:nvPr/>
        </p:nvSpPr>
        <p:spPr>
          <a:xfrm>
            <a:off x="457200" y="2898648"/>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timer_blue.png">    </p:cNvPr>
          <p:cNvPicPr>
            <a:picLocks noChangeAspect="1"/>
          </p:cNvPicPr>
          <p:nvPr/>
        </p:nvPicPr>
        <p:blipFill>
          <a:blip r:embed="rId2"/>
          <a:stretch>
            <a:fillRect/>
          </a:stretch>
        </p:blipFill>
        <p:spPr>
          <a:xfrm>
            <a:off x="658368" y="3099816"/>
            <a:ext cx="329184" cy="329184"/>
          </a:xfrm>
          <a:prstGeom prst="rect">
            <a:avLst/>
          </a:prstGeom>
        </p:spPr>
      </p:pic>
      <p:sp>
        <p:nvSpPr>
          <p:cNvPr id="11" name="Text 6"/>
          <p:cNvSpPr txBox="1"/>
          <p:nvPr/>
        </p:nvSpPr>
        <p:spPr>
          <a:xfrm>
            <a:off x="1115568" y="3090672"/>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Budget for longer training</a:t>
            </a:r>
            <a:endParaRPr lang="en-US" sz="1400" dirty="0"/>
          </a:p>
        </p:txBody>
      </p:sp>
      <p:sp>
        <p:nvSpPr>
          <p:cNvPr id="12" name="Text 7"/>
          <p:cNvSpPr txBox="1"/>
          <p:nvPr/>
        </p:nvSpPr>
        <p:spPr>
          <a:xfrm>
            <a:off x="658368" y="3575304"/>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Whenever validation loss had not plateaued, training past the scheduled epochs was the largest single lever.</a:t>
            </a:r>
            <a:endParaRPr lang="en-US" sz="1250" dirty="0"/>
          </a:p>
        </p:txBody>
      </p:sp>
      <p:sp>
        <p:nvSpPr>
          <p:cNvPr id="13" name="Shape 8"/>
          <p:cNvSpPr/>
          <p:nvPr/>
        </p:nvSpPr>
        <p:spPr>
          <a:xfrm>
            <a:off x="457200" y="4197096"/>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4" name="Image 2" descr="/home/aigca/ALEXIS/Posters/build/pptx/icons/shield_blue.png">    </p:cNvPr>
          <p:cNvPicPr>
            <a:picLocks noChangeAspect="1"/>
          </p:cNvPicPr>
          <p:nvPr/>
        </p:nvPicPr>
        <p:blipFill>
          <a:blip r:embed="rId3"/>
          <a:stretch>
            <a:fillRect/>
          </a:stretch>
        </p:blipFill>
        <p:spPr>
          <a:xfrm>
            <a:off x="658368" y="4398264"/>
            <a:ext cx="329184" cy="329184"/>
          </a:xfrm>
          <a:prstGeom prst="rect">
            <a:avLst/>
          </a:prstGeom>
        </p:spPr>
      </p:pic>
      <p:sp>
        <p:nvSpPr>
          <p:cNvPr id="15" name="Text 9"/>
          <p:cNvSpPr txBox="1"/>
          <p:nvPr/>
        </p:nvSpPr>
        <p:spPr>
          <a:xfrm>
            <a:off x="1115568" y="4389120"/>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Draw a trust boundary around the reward</a:t>
            </a:r>
            <a:endParaRPr lang="en-US" sz="1400" dirty="0"/>
          </a:p>
        </p:txBody>
      </p:sp>
      <p:sp>
        <p:nvSpPr>
          <p:cNvPr id="16" name="Text 10"/>
          <p:cNvSpPr txBox="1"/>
          <p:nvPr/>
        </p:nvSpPr>
        <p:spPr>
          <a:xfrm>
            <a:off x="658368" y="4873752"/>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Preference optimization for MT is only as good as the trust boundary around its reward’s reference data; dynamics alone cannot reveal it.</a:t>
            </a:r>
            <a:endParaRPr lang="en-US" sz="1250" dirty="0"/>
          </a:p>
        </p:txBody>
      </p:sp>
      <p:sp>
        <p:nvSpPr>
          <p:cNvPr id="17" name="Shape 11"/>
          <p:cNvSpPr/>
          <p:nvPr/>
        </p:nvSpPr>
        <p:spPr>
          <a:xfrm>
            <a:off x="7726680" y="1600200"/>
            <a:ext cx="4005072" cy="3758184"/>
          </a:xfrm>
          <a:prstGeom prst="roundRect">
            <a:avLst>
              <a:gd name="adj" fmla="val 1946"/>
            </a:avLst>
          </a:prstGeom>
          <a:solidFill>
            <a:srgbClr val="0D1117"/>
          </a:solidFill>
          <a:ln w="9525">
            <a:solidFill>
              <a:srgbClr val="0D1117"/>
            </a:solidFill>
            <a:prstDash val="solid"/>
          </a:ln>
          <a:effectLst>
            <a:outerShdw sx="100000" sy="100000" kx="0" ky="0" algn="bl" rotWithShape="0" blurRad="101600" dist="25400" dir="5400000">
              <a:srgbClr val="0D1B3A">
                <a:alpha val="35000"/>
              </a:srgbClr>
            </a:outerShdw>
          </a:effectLst>
        </p:spPr>
      </p:sp>
      <p:pic>
        <p:nvPicPr>
          <p:cNvPr id="18" name="Image 3" descr="/home/aigca/ALEXIS/Posters/build/pptx/icons/arrow_white.png">    </p:cNvPr>
          <p:cNvPicPr>
            <a:picLocks noChangeAspect="1"/>
          </p:cNvPicPr>
          <p:nvPr/>
        </p:nvPicPr>
        <p:blipFill>
          <a:blip r:embed="rId4"/>
          <a:stretch>
            <a:fillRect/>
          </a:stretch>
        </p:blipFill>
        <p:spPr>
          <a:xfrm>
            <a:off x="7955280" y="1810512"/>
            <a:ext cx="292608" cy="292608"/>
          </a:xfrm>
          <a:prstGeom prst="rect">
            <a:avLst/>
          </a:prstGeom>
        </p:spPr>
      </p:pic>
      <p:sp>
        <p:nvSpPr>
          <p:cNvPr id="19" name="Text 12"/>
          <p:cNvSpPr txBox="1"/>
          <p:nvPr/>
        </p:nvSpPr>
        <p:spPr>
          <a:xfrm>
            <a:off x="8339328" y="1810512"/>
            <a:ext cx="3291840" cy="292608"/>
          </a:xfrm>
          <a:prstGeom prst="rect">
            <a:avLst/>
          </a:prstGeom>
          <a:noFill/>
          <a:ln/>
        </p:spPr>
        <p:txBody>
          <a:bodyPr wrap="square" lIns="0" tIns="0" rIns="0" bIns="0" rtlCol="0" anchor="ctr"/>
          <a:lstStyle/>
          <a:p>
            <a:pPr indent="0" marL="0">
              <a:buNone/>
            </a:pPr>
            <a:r>
              <a:rPr lang="en-US" sz="1200" b="1" spc="100" kern="0" dirty="0">
                <a:solidFill>
                  <a:srgbClr val="22C3FF"/>
                </a:solidFill>
                <a:latin typeface="Arial" pitchFamily="34" charset="0"/>
                <a:ea typeface="Arial" pitchFamily="34" charset="-122"/>
                <a:cs typeface="Arial" pitchFamily="34" charset="-120"/>
              </a:rPr>
              <a:t>FUTURE WORK &amp; LIMITS</a:t>
            </a:r>
            <a:endParaRPr lang="en-US" sz="1200" dirty="0"/>
          </a:p>
        </p:txBody>
      </p:sp>
      <p:sp>
        <p:nvSpPr>
          <p:cNvPr id="20" name="Text 13"/>
          <p:cNvSpPr txBox="1"/>
          <p:nvPr/>
        </p:nvSpPr>
        <p:spPr>
          <a:xfrm>
            <a:off x="7955280" y="2286000"/>
            <a:ext cx="3611880" cy="2971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5DEEC"/>
                </a:solidFill>
                <a:latin typeface="Calibri" pitchFamily="34" charset="0"/>
                <a:ea typeface="Calibri" pitchFamily="34" charset="-122"/>
                <a:cs typeface="Calibri" pitchFamily="34" charset="-120"/>
              </a:rPr>
              <a:t>Replace the lexicon + similarity proxy with a learned, reference-free quality-estimation reward.</a:t>
            </a:r>
            <a:endParaRPr lang="en-US" sz="1300" dirty="0"/>
          </a:p>
          <a:p>
            <a:pPr marL="342900" indent="-342900">
              <a:spcAft>
                <a:spcPts val="800"/>
              </a:spcAft>
              <a:buSzPct val="100000"/>
              <a:buChar char="•"/>
            </a:pPr>
            <a:r>
              <a:rPr lang="en-US" sz="1300" dirty="0">
                <a:solidFill>
                  <a:srgbClr val="D5DEEC"/>
                </a:solidFill>
                <a:latin typeface="Calibri" pitchFamily="34" charset="0"/>
                <a:ea typeface="Calibri" pitchFamily="34" charset="-122"/>
                <a:cs typeface="Calibri" pitchFamily="34" charset="-120"/>
              </a:rPr>
              <a:t>Test whether the capacity lever holds at a larger backbone.</a:t>
            </a:r>
            <a:endParaRPr lang="en-US" sz="1300" dirty="0"/>
          </a:p>
          <a:p>
            <a:pPr marL="342900" indent="-342900">
              <a:spcAft>
                <a:spcPts val="800"/>
              </a:spcAft>
              <a:buSzPct val="100000"/>
              <a:buChar char="•"/>
            </a:pPr>
            <a:r>
              <a:rPr lang="en-US" sz="1300" dirty="0">
                <a:solidFill>
                  <a:srgbClr val="D5DEEC"/>
                </a:solidFill>
                <a:latin typeface="Calibri" pitchFamily="34" charset="0"/>
                <a:ea typeface="Calibri" pitchFamily="34" charset="-122"/>
                <a:cs typeface="Calibri" pitchFamily="34" charset="-120"/>
              </a:rPr>
              <a:t>Offline dev metrics were directionally, not proportionally, reliable; Codabench reports aggregate scores only.</a:t>
            </a:r>
            <a:endParaRPr lang="en-US" sz="1300" dirty="0"/>
          </a:p>
        </p:txBody>
      </p:sp>
      <p:sp>
        <p:nvSpPr>
          <p:cNvPr id="21" name="Shape 14"/>
          <p:cNvSpPr/>
          <p:nvPr/>
        </p:nvSpPr>
        <p:spPr>
          <a:xfrm>
            <a:off x="457200" y="5577840"/>
            <a:ext cx="11274552" cy="502920"/>
          </a:xfrm>
          <a:prstGeom prst="roundRect">
            <a:avLst>
              <a:gd name="adj" fmla="val 14545"/>
            </a:avLst>
          </a:prstGeom>
          <a:solidFill>
            <a:srgbClr val="EAF1FF"/>
          </a:solidFill>
          <a:ln w="9525">
            <a:solidFill>
              <a:srgbClr val="C9DAFD"/>
            </a:solidFill>
            <a:prstDash val="solid"/>
          </a:ln>
        </p:spPr>
      </p:sp>
      <p:pic>
        <p:nvPicPr>
          <p:cNvPr id="22" name="Image 4" descr="/home/aigca/ALEXIS/Posters/build/pptx/icons/github_blue.png">    </p:cNvPr>
          <p:cNvPicPr>
            <a:picLocks noChangeAspect="1"/>
          </p:cNvPicPr>
          <p:nvPr/>
        </p:nvPicPr>
        <p:blipFill>
          <a:blip r:embed="rId5"/>
          <a:stretch>
            <a:fillRect/>
          </a:stretch>
        </p:blipFill>
        <p:spPr>
          <a:xfrm>
            <a:off x="640080" y="5692140"/>
            <a:ext cx="274320" cy="274320"/>
          </a:xfrm>
          <a:prstGeom prst="rect">
            <a:avLst/>
          </a:prstGeom>
        </p:spPr>
      </p:pic>
      <p:sp>
        <p:nvSpPr>
          <p:cNvPr id="23" name="Text 15"/>
          <p:cNvSpPr txBox="1"/>
          <p:nvPr/>
        </p:nvSpPr>
        <p:spPr>
          <a:xfrm>
            <a:off x="1051560" y="5577840"/>
            <a:ext cx="10497312" cy="502920"/>
          </a:xfrm>
          <a:prstGeom prst="rect">
            <a:avLst/>
          </a:prstGeom>
          <a:noFill/>
          <a:ln/>
        </p:spPr>
        <p:txBody>
          <a:bodyPr wrap="square" lIns="0" tIns="0" rIns="0" bIns="0" rtlCol="0" anchor="ctr"/>
          <a:lstStyle/>
          <a:p>
            <a:pPr indent="0" marL="0">
              <a:buNone/>
            </a:pPr>
            <a:r>
              <a:rPr lang="en-US" sz="1300" dirty="0">
                <a:solidFill>
                  <a:srgbClr val="1553CC"/>
                </a:solidFill>
                <a:latin typeface="Calibri" pitchFamily="34" charset="0"/>
                <a:ea typeface="Calibri" pitchFamily="34" charset="-122"/>
                <a:cs typeface="Calibri" pitchFamily="34" charset="-120"/>
              </a:rPr>
              <a:t>github.com/Momen-Ibrahim-Fawzy/ALEXIS-AlexandriaX-Subtask2-CrossDialectMT</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011680"/>
            <a:ext cx="60350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3" name="Text 1"/>
          <p:cNvSpPr txBox="1"/>
          <p:nvPr/>
        </p:nvSpPr>
        <p:spPr>
          <a:xfrm>
            <a:off x="548640" y="2926080"/>
            <a:ext cx="6035040" cy="411480"/>
          </a:xfrm>
          <a:prstGeom prst="rect">
            <a:avLst/>
          </a:prstGeom>
          <a:noFill/>
          <a:ln/>
        </p:spPr>
        <p:txBody>
          <a:bodyPr wrap="square" lIns="0" tIns="0" rIns="0" bIns="0" rtlCol="0" anchor="t"/>
          <a:lstStyle/>
          <a:p>
            <a:pPr algn="ctr" indent="0" marL="0">
              <a:buNone/>
            </a:pPr>
            <a:r>
              <a:rPr lang="en-US" sz="1600" dirty="0">
                <a:solidFill>
                  <a:srgbClr val="22C3FF"/>
                </a:solidFill>
                <a:latin typeface="Arial" pitchFamily="34" charset="0"/>
                <a:ea typeface="Arial" pitchFamily="34" charset="-122"/>
                <a:cs typeface="Arial" pitchFamily="34" charset="-120"/>
              </a:rPr>
              <a:t>Questions welcome</a:t>
            </a:r>
            <a:endParaRPr lang="en-US" sz="1600" dirty="0"/>
          </a:p>
        </p:txBody>
      </p:sp>
      <p:sp>
        <p:nvSpPr>
          <p:cNvPr id="4" name="Shape 2"/>
          <p:cNvSpPr/>
          <p:nvPr/>
        </p:nvSpPr>
        <p:spPr>
          <a:xfrm>
            <a:off x="2011680" y="3611880"/>
            <a:ext cx="3108960" cy="0"/>
          </a:xfrm>
          <a:prstGeom prst="line">
            <a:avLst/>
          </a:prstGeom>
          <a:noFill/>
          <a:ln w="12700">
            <a:solidFill>
              <a:srgbClr val="26406E"/>
            </a:solidFill>
            <a:prstDash val="solid"/>
          </a:ln>
        </p:spPr>
      </p:sp>
      <p:sp>
        <p:nvSpPr>
          <p:cNvPr id="5" name="Text 3"/>
          <p:cNvSpPr txBox="1"/>
          <p:nvPr/>
        </p:nvSpPr>
        <p:spPr>
          <a:xfrm>
            <a:off x="548640" y="3840480"/>
            <a:ext cx="6035040" cy="320040"/>
          </a:xfrm>
          <a:prstGeom prst="rect">
            <a:avLst/>
          </a:prstGeom>
          <a:noFill/>
          <a:ln/>
        </p:spPr>
        <p:txBody>
          <a:bodyPr wrap="square" lIns="0" tIns="0" rIns="0" bIns="0" rtlCol="0" anchor="t"/>
          <a:lstStyle/>
          <a:p>
            <a:pPr algn="ctr" indent="0" marL="0">
              <a:buNone/>
            </a:pPr>
            <a:r>
              <a:rPr lang="en-US" sz="1300" dirty="0">
                <a:solidFill>
                  <a:srgbClr val="B8C4D6"/>
                </a:solidFill>
                <a:latin typeface="Calibri" pitchFamily="34" charset="0"/>
                <a:ea typeface="Calibri" pitchFamily="34" charset="-122"/>
                <a:cs typeface="Calibri" pitchFamily="34" charset="-120"/>
              </a:rPr>
              <a:t>Momen Ibrahim  ·  es-momen.ibrahim2019@alexu.edu.eg</a:t>
            </a:r>
            <a:endParaRPr lang="en-US" sz="1300" dirty="0"/>
          </a:p>
        </p:txBody>
      </p:sp>
      <p:sp>
        <p:nvSpPr>
          <p:cNvPr id="6" name="Text 4"/>
          <p:cNvSpPr txBox="1"/>
          <p:nvPr/>
        </p:nvSpPr>
        <p:spPr>
          <a:xfrm>
            <a:off x="548640" y="4187952"/>
            <a:ext cx="6035040" cy="320040"/>
          </a:xfrm>
          <a:prstGeom prst="rect">
            <a:avLst/>
          </a:prstGeom>
          <a:noFill/>
          <a:ln/>
        </p:spPr>
        <p:txBody>
          <a:bodyPr wrap="square" lIns="0" tIns="0" rIns="0" bIns="0" rtlCol="0" anchor="t"/>
          <a:lstStyle/>
          <a:p>
            <a:pPr algn="ctr" indent="0" marL="0">
              <a:buNone/>
            </a:pPr>
            <a:r>
              <a:rPr lang="en-US" sz="1300" dirty="0">
                <a:solidFill>
                  <a:srgbClr val="9FB3D0"/>
                </a:solidFill>
                <a:latin typeface="Calibri" pitchFamily="34" charset="0"/>
                <a:ea typeface="Calibri" pitchFamily="34" charset="-122"/>
                <a:cs typeface="Calibri" pitchFamily="34" charset="-120"/>
              </a:rPr>
              <a:t>Team ALEXIS  ·  Alexandria University, Egypt</a:t>
            </a:r>
            <a:endParaRPr lang="en-US" sz="1300" dirty="0"/>
          </a:p>
        </p:txBody>
      </p:sp>
      <p:sp>
        <p:nvSpPr>
          <p:cNvPr id="7" name="Shape 5"/>
          <p:cNvSpPr/>
          <p:nvPr/>
        </p:nvSpPr>
        <p:spPr>
          <a:xfrm>
            <a:off x="7086600" y="1143000"/>
            <a:ext cx="4617720" cy="4114800"/>
          </a:xfrm>
          <a:prstGeom prst="roundRect">
            <a:avLst>
              <a:gd name="adj" fmla="val 2222"/>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8" name="Image 0" descr="/home/aigca/ALEXIS/Posters/build/pptx/media/mt_qr_paper.png">    </p:cNvPr>
          <p:cNvPicPr>
            <a:picLocks noChangeAspect="1"/>
          </p:cNvPicPr>
          <p:nvPr/>
        </p:nvPicPr>
        <p:blipFill>
          <a:blip r:embed="rId1"/>
          <a:stretch>
            <a:fillRect/>
          </a:stretch>
        </p:blipFill>
        <p:spPr>
          <a:xfrm>
            <a:off x="7315200" y="1417320"/>
            <a:ext cx="1965960" cy="1965960"/>
          </a:xfrm>
          <a:prstGeom prst="rect">
            <a:avLst/>
          </a:prstGeom>
        </p:spPr>
      </p:pic>
      <p:sp>
        <p:nvSpPr>
          <p:cNvPr id="9" name="Text 6"/>
          <p:cNvSpPr txBox="1"/>
          <p:nvPr/>
        </p:nvSpPr>
        <p:spPr>
          <a:xfrm>
            <a:off x="7315200" y="3493008"/>
            <a:ext cx="1965960" cy="274320"/>
          </a:xfrm>
          <a:prstGeom prst="rect">
            <a:avLst/>
          </a:prstGeom>
          <a:noFill/>
          <a:ln/>
        </p:spPr>
        <p:txBody>
          <a:bodyPr wrap="square" lIns="0" tIns="0" rIns="0" bIns="0" rtlCol="0" anchor="t"/>
          <a:lstStyle/>
          <a:p>
            <a:pPr algn="ctr" indent="0" marL="0">
              <a:buNone/>
            </a:pPr>
            <a:r>
              <a:rPr lang="en-US" sz="1300" b="1" spc="100" kern="0" dirty="0">
                <a:solidFill>
                  <a:srgbClr val="1E6BFF"/>
                </a:solidFill>
                <a:latin typeface="Arial" pitchFamily="34" charset="0"/>
                <a:ea typeface="Arial" pitchFamily="34" charset="-122"/>
                <a:cs typeface="Arial" pitchFamily="34" charset="-120"/>
              </a:rPr>
              <a:t>PAPER</a:t>
            </a:r>
            <a:endParaRPr lang="en-US" sz="1300" dirty="0"/>
          </a:p>
        </p:txBody>
      </p:sp>
      <p:sp>
        <p:nvSpPr>
          <p:cNvPr id="10" name="Text 7"/>
          <p:cNvSpPr txBox="1"/>
          <p:nvPr/>
        </p:nvSpPr>
        <p:spPr>
          <a:xfrm>
            <a:off x="7315200" y="3749040"/>
            <a:ext cx="1965960" cy="274320"/>
          </a:xfrm>
          <a:prstGeom prst="rect">
            <a:avLst/>
          </a:prstGeom>
          <a:noFill/>
          <a:ln/>
        </p:spPr>
        <p:txBody>
          <a:bodyPr wrap="square" lIns="0" tIns="0" rIns="0" bIns="0" rtlCol="0" anchor="t"/>
          <a:lstStyle/>
          <a:p>
            <a:pPr algn="ctr" indent="0" marL="0">
              <a:buNone/>
            </a:pPr>
            <a:r>
              <a:rPr lang="en-US" sz="1200" dirty="0">
                <a:solidFill>
                  <a:srgbClr val="5A6472"/>
                </a:solidFill>
                <a:latin typeface="Calibri" pitchFamily="34" charset="0"/>
                <a:ea typeface="Calibri" pitchFamily="34" charset="-122"/>
                <a:cs typeface="Calibri" pitchFamily="34" charset="-120"/>
              </a:rPr>
              <a:t>ACL Anthology</a:t>
            </a:r>
            <a:endParaRPr lang="en-US" sz="1200" dirty="0"/>
          </a:p>
        </p:txBody>
      </p:sp>
      <p:pic>
        <p:nvPicPr>
          <p:cNvPr id="11" name="Image 1" descr="/home/aigca/ALEXIS/Posters/build/pptx/media/mt_qr_code.png">    </p:cNvPr>
          <p:cNvPicPr>
            <a:picLocks noChangeAspect="1"/>
          </p:cNvPicPr>
          <p:nvPr/>
        </p:nvPicPr>
        <p:blipFill>
          <a:blip r:embed="rId2"/>
          <a:stretch>
            <a:fillRect/>
          </a:stretch>
        </p:blipFill>
        <p:spPr>
          <a:xfrm>
            <a:off x="9509760" y="1417320"/>
            <a:ext cx="1965960" cy="1965960"/>
          </a:xfrm>
          <a:prstGeom prst="rect">
            <a:avLst/>
          </a:prstGeom>
        </p:spPr>
      </p:pic>
      <p:sp>
        <p:nvSpPr>
          <p:cNvPr id="12" name="Text 8"/>
          <p:cNvSpPr txBox="1"/>
          <p:nvPr/>
        </p:nvSpPr>
        <p:spPr>
          <a:xfrm>
            <a:off x="9509760" y="3493008"/>
            <a:ext cx="1965960" cy="274320"/>
          </a:xfrm>
          <a:prstGeom prst="rect">
            <a:avLst/>
          </a:prstGeom>
          <a:noFill/>
          <a:ln/>
        </p:spPr>
        <p:txBody>
          <a:bodyPr wrap="square" lIns="0" tIns="0" rIns="0" bIns="0" rtlCol="0" anchor="t"/>
          <a:lstStyle/>
          <a:p>
            <a:pPr algn="ctr" indent="0" marL="0">
              <a:buNone/>
            </a:pPr>
            <a:r>
              <a:rPr lang="en-US" sz="1300" b="1" spc="100" kern="0" dirty="0">
                <a:solidFill>
                  <a:srgbClr val="1E6BFF"/>
                </a:solidFill>
                <a:latin typeface="Arial" pitchFamily="34" charset="0"/>
                <a:ea typeface="Arial" pitchFamily="34" charset="-122"/>
                <a:cs typeface="Arial" pitchFamily="34" charset="-120"/>
              </a:rPr>
              <a:t>CODE</a:t>
            </a:r>
            <a:endParaRPr lang="en-US" sz="1300" dirty="0"/>
          </a:p>
        </p:txBody>
      </p:sp>
      <p:sp>
        <p:nvSpPr>
          <p:cNvPr id="13" name="Text 9"/>
          <p:cNvSpPr txBox="1"/>
          <p:nvPr/>
        </p:nvSpPr>
        <p:spPr>
          <a:xfrm>
            <a:off x="9509760" y="3749040"/>
            <a:ext cx="1965960" cy="274320"/>
          </a:xfrm>
          <a:prstGeom prst="rect">
            <a:avLst/>
          </a:prstGeom>
          <a:noFill/>
          <a:ln/>
        </p:spPr>
        <p:txBody>
          <a:bodyPr wrap="square" lIns="0" tIns="0" rIns="0" bIns="0" rtlCol="0" anchor="t"/>
          <a:lstStyle/>
          <a:p>
            <a:pPr algn="ctr" indent="0" marL="0">
              <a:buNone/>
            </a:pPr>
            <a:r>
              <a:rPr lang="en-US" sz="1200" dirty="0">
                <a:solidFill>
                  <a:srgbClr val="5A6472"/>
                </a:solidFill>
                <a:latin typeface="Calibri" pitchFamily="34" charset="0"/>
                <a:ea typeface="Calibri" pitchFamily="34" charset="-122"/>
                <a:cs typeface="Calibri" pitchFamily="34" charset="-120"/>
              </a:rPr>
              <a:t>GitHub</a:t>
            </a:r>
            <a:endParaRPr lang="en-US" sz="1200" dirty="0"/>
          </a:p>
        </p:txBody>
      </p:sp>
      <p:sp>
        <p:nvSpPr>
          <p:cNvPr id="14" name="Shape 10"/>
          <p:cNvSpPr/>
          <p:nvPr/>
        </p:nvSpPr>
        <p:spPr>
          <a:xfrm>
            <a:off x="7315200" y="4206240"/>
            <a:ext cx="4160520" cy="777240"/>
          </a:xfrm>
          <a:prstGeom prst="roundRect">
            <a:avLst>
              <a:gd name="adj" fmla="val 9412"/>
            </a:avLst>
          </a:prstGeom>
          <a:solidFill>
            <a:srgbClr val="0D1117"/>
          </a:solidFill>
          <a:ln w="9525">
            <a:solidFill>
              <a:srgbClr val="0D1117"/>
            </a:solidFill>
            <a:prstDash val="solid"/>
          </a:ln>
        </p:spPr>
      </p:sp>
      <p:sp>
        <p:nvSpPr>
          <p:cNvPr id="15" name="Text 11"/>
          <p:cNvSpPr txBox="1"/>
          <p:nvPr/>
        </p:nvSpPr>
        <p:spPr>
          <a:xfrm>
            <a:off x="7406640" y="4224528"/>
            <a:ext cx="3977640" cy="731520"/>
          </a:xfrm>
          <a:prstGeom prst="rect">
            <a:avLst/>
          </a:prstGeom>
          <a:noFill/>
          <a:ln/>
        </p:spPr>
        <p:txBody>
          <a:bodyPr wrap="square" lIns="0" tIns="0" rIns="0" bIns="0" rtlCol="0" anchor="ctr"/>
          <a:lstStyle/>
          <a:p>
            <a:pPr algn="ctr" indent="0" marL="0">
              <a:buNone/>
            </a:pPr>
            <a:r>
              <a:rPr lang="en-US" sz="1100" dirty="0">
                <a:solidFill>
                  <a:srgbClr val="22C3FF"/>
                </a:solidFill>
                <a:latin typeface="Calibri" pitchFamily="34" charset="0"/>
                <a:ea typeface="Calibri" pitchFamily="34" charset="-122"/>
                <a:cs typeface="Calibri" pitchFamily="34" charset="-120"/>
              </a:rPr>
              <a:t>aclanthology.org/2026.arabicnlp-sharedtasks.104</a:t>
            </a:r>
            <a:endParaRPr lang="en-US" sz="1100" dirty="0"/>
          </a:p>
          <a:p>
            <a:pPr algn="ctr" indent="0" marL="0">
              <a:buNone/>
            </a:pPr>
            <a:r>
              <a:rPr lang="en-US" sz="1100" dirty="0">
                <a:solidFill>
                  <a:srgbClr val="22C3FF"/>
                </a:solidFill>
                <a:latin typeface="Calibri" pitchFamily="34" charset="0"/>
                <a:ea typeface="Calibri" pitchFamily="34" charset="-122"/>
                <a:cs typeface="Calibri" pitchFamily="34" charset="-120"/>
              </a:rPr>
              <a:t>github.com/Momen-Ibrahim-Fawzy/ALEXIS-AlexandriaX-Subtask2-CrossDialectMT</a:t>
            </a:r>
            <a:endParaRPr lang="en-US" sz="1100" dirty="0"/>
          </a:p>
        </p:txBody>
      </p:sp>
    </p:spTree>
  </p:cSld>
  <p:clrMapOvr>
    <a:masterClrMapping/>
  </p:clrMapOvr>
</p:sld>
</file>

<file path=ppt/theme/theme1.xml><?xml version="1.0" encoding="utf-8"?>
<a:theme xmlns:a="http://schemas.openxmlformats.org/drawingml/2006/main" name="ALEXIS AI MOMENT">
  <a:themeElements>
    <a:clrScheme name="ALEXIS AI MOMENT">
      <a:dk1>
        <a:srgbClr val="0D1117"/>
      </a:dk1>
      <a:lt1>
        <a:srgbClr val="FFFFFF"/>
      </a:lt1>
      <a:dk2>
        <a:srgbClr val="12203A"/>
      </a:dk2>
      <a:lt2>
        <a:srgbClr val="F4F7FB"/>
      </a:lt2>
      <a:accent1>
        <a:srgbClr val="1E6BFF"/>
      </a:accent1>
      <a:accent2>
        <a:srgbClr val="22C3FF"/>
      </a:accent2>
      <a:accent3>
        <a:srgbClr val="E8A020"/>
      </a:accent3>
      <a:accent4>
        <a:srgbClr val="5A6472"/>
      </a:accent4>
      <a:accent5>
        <a:srgbClr val="138A52"/>
      </a:accent5>
      <a:accent6>
        <a:srgbClr val="C8372D"/>
      </a:accent6>
      <a:hlink>
        <a:srgbClr val="1E6BFF"/>
      </a:hlink>
      <a:folHlink>
        <a:srgbClr val="9FB3D0"/>
      </a:folHlink>
    </a:clrScheme>
    <a:fontScheme name="ALEXIS AI MOM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Team ALEXIS, Alexandria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ALEXIS at AlexandriaX-2026 Subtask 2</dc:title>
  <dc:subject>ArabicNLP 2026 shared-task system paper</dc:subject>
  <dc:creator>Momen Ibrahim</dc:creator>
  <cp:lastModifiedBy>Momen Ibrahim</cp:lastModifiedBy>
  <cp:revision>1</cp:revision>
  <dcterms:created xsi:type="dcterms:W3CDTF">2026-10-26T11:23:36Z</dcterms:created>
  <dcterms:modified xsi:type="dcterms:W3CDTF">2026-10-26T11:23:36Z</dcterms:modified>
</cp:coreProperties>
</file>